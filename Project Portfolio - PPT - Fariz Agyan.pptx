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262" r:id="rId5"/>
    <p:sldId id="261" r:id="rId6"/>
    <p:sldId id="265" r:id="rId7"/>
    <p:sldId id="264" r:id="rId8"/>
    <p:sldId id="269" r:id="rId9"/>
    <p:sldId id="270" r:id="rId10"/>
    <p:sldId id="271" r:id="rId11"/>
    <p:sldId id="259" r:id="rId12"/>
    <p:sldId id="275" r:id="rId13"/>
    <p:sldId id="274" r:id="rId14"/>
    <p:sldId id="273" r:id="rId15"/>
    <p:sldId id="276" r:id="rId16"/>
    <p:sldId id="277" r:id="rId17"/>
    <p:sldId id="260" r:id="rId1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0"/>
    </p:embeddedFont>
    <p:embeddedFont>
      <p:font typeface="Cooper Black" panose="0208090404030B020404" pitchFamily="18" charset="0"/>
      <p:regular r:id="rId21"/>
    </p:embeddedFont>
    <p:embeddedFont>
      <p:font typeface="Lucida Calligraphy" panose="03010101010101010101" pitchFamily="66" charset="0"/>
      <p:regular r:id="rId22"/>
    </p:embeddedFont>
    <p:embeddedFont>
      <p:font typeface="Patrick Hand" panose="00000500000000000000" pitchFamily="2" charset="0"/>
      <p:regular r:id="rId23"/>
    </p:embeddedFont>
    <p:embeddedFont>
      <p:font typeface="Playbill" panose="040506030A0602020202" pitchFamily="82" charset="0"/>
      <p:regular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Light" panose="00000400000000000000" pitchFamily="2" charset="0"/>
      <p:regular r:id="rId29"/>
      <p:bold r:id="rId30"/>
      <p:italic r:id="rId31"/>
      <p:boldItalic r:id="rId32"/>
    </p:embeddedFont>
    <p:embeddedFont>
      <p:font typeface="Poppins Medium" panose="00000600000000000000" pitchFamily="2" charset="0"/>
      <p:regular r:id="rId33"/>
      <p:italic r:id="rId34"/>
    </p:embeddedFont>
    <p:embeddedFont>
      <p:font typeface="Poppins SemiBold" panose="00000700000000000000" pitchFamily="2" charset="0"/>
      <p:regular r:id="rId35"/>
      <p:bold r:id="rId36"/>
      <p:italic r:id="rId37"/>
      <p:boldItalic r:id="rId38"/>
    </p:embeddedFont>
    <p:embeddedFont>
      <p:font typeface="Showcard Gothic" panose="04020904020102020604" pitchFamily="82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jVdrDcdfEWB3ZzYMVTF/2iD1Dk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EE18"/>
    <a:srgbClr val="2E7D32"/>
    <a:srgbClr val="FFC107"/>
    <a:srgbClr val="1B5E20"/>
    <a:srgbClr val="66B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8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84A1E987-08E0-ABB1-0E6B-9E3CF7D7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>
            <a:extLst>
              <a:ext uri="{FF2B5EF4-FFF2-40B4-BE49-F238E27FC236}">
                <a16:creationId xmlns:a16="http://schemas.microsoft.com/office/drawing/2014/main" id="{6A5994C1-C68C-66C3-8398-9E3C4366E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2:notes">
            <a:extLst>
              <a:ext uri="{FF2B5EF4-FFF2-40B4-BE49-F238E27FC236}">
                <a16:creationId xmlns:a16="http://schemas.microsoft.com/office/drawing/2014/main" id="{A9F7AEF9-EB6B-0D2F-52B6-6EFDCDC16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811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2C7CB48E-6FB6-0773-3E65-85124418D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A58CE83D-532C-4591-F0B5-7724233E5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>
            <a:extLst>
              <a:ext uri="{FF2B5EF4-FFF2-40B4-BE49-F238E27FC236}">
                <a16:creationId xmlns:a16="http://schemas.microsoft.com/office/drawing/2014/main" id="{2E36BC77-C605-7B05-0A8E-6E3EB7FF7F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2752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1601CF2E-603A-48BF-64BD-FE868E69E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7A7DB4CB-9761-601E-09F2-DCAE282ED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>
            <a:extLst>
              <a:ext uri="{FF2B5EF4-FFF2-40B4-BE49-F238E27FC236}">
                <a16:creationId xmlns:a16="http://schemas.microsoft.com/office/drawing/2014/main" id="{10496A6A-24CD-697A-26ED-FCB6E61D9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9251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3EFB2F2F-B772-5672-DAAE-94BE498F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FBF3E5E2-7A67-83C4-4560-67F1E63A0E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>
            <a:extLst>
              <a:ext uri="{FF2B5EF4-FFF2-40B4-BE49-F238E27FC236}">
                <a16:creationId xmlns:a16="http://schemas.microsoft.com/office/drawing/2014/main" id="{B877AEC9-3A8B-A6E1-60B7-A278D93EFD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614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C991E75F-5A1E-D55C-2C4E-F296149C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F6AAC486-9CA8-D33F-464A-75DE80A81A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>
            <a:extLst>
              <a:ext uri="{FF2B5EF4-FFF2-40B4-BE49-F238E27FC236}">
                <a16:creationId xmlns:a16="http://schemas.microsoft.com/office/drawing/2014/main" id="{57B53B39-CB65-F01C-1BBC-DDB9DC597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5906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6E49B0AD-EB97-D92E-6B22-6B1E2944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B541A348-9F09-DF7A-5730-2D04EB2F6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>
            <a:extLst>
              <a:ext uri="{FF2B5EF4-FFF2-40B4-BE49-F238E27FC236}">
                <a16:creationId xmlns:a16="http://schemas.microsoft.com/office/drawing/2014/main" id="{A0717622-A83C-064B-311A-EBCE11E60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7712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F38DF13-6CEF-A6E7-CF23-772DE540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3CDCAE4-3BE2-4681-A149-C6636448B1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3F93DA82-CF8C-4CED-26B7-2C91533227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7165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subTitle" idx="1"/>
          </p:nvPr>
        </p:nvSpPr>
        <p:spPr>
          <a:xfrm>
            <a:off x="215700" y="4107600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1080000" y="1958850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ldNum" idx="12"/>
          </p:nvPr>
        </p:nvSpPr>
        <p:spPr>
          <a:xfrm>
            <a:off x="8472458" y="4815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311700" y="672450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>
            <a:spLocks noGrp="1"/>
          </p:cNvSpPr>
          <p:nvPr>
            <p:ph type="title"/>
          </p:nvPr>
        </p:nvSpPr>
        <p:spPr>
          <a:xfrm>
            <a:off x="265500" y="1425175"/>
            <a:ext cx="26385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ubTitle" idx="1"/>
          </p:nvPr>
        </p:nvSpPr>
        <p:spPr>
          <a:xfrm>
            <a:off x="265500" y="3144000"/>
            <a:ext cx="2386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2"/>
          </p:nvPr>
        </p:nvSpPr>
        <p:spPr>
          <a:xfrm>
            <a:off x="3972000" y="724075"/>
            <a:ext cx="48045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1829850" y="206502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AA5E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2AA5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Char char="●"/>
              <a:defRPr sz="18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168200" y="286013"/>
            <a:ext cx="4629432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POST-PANDEMIC FILM TRENDS</a:t>
            </a:r>
            <a:endParaRPr sz="40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215700" y="44436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1212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EXC175 – FARIZ AGYAN</a:t>
            </a:r>
            <a:endParaRPr sz="2400" dirty="0">
              <a:solidFill>
                <a:srgbClr val="21212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215700" y="38529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rgbClr val="21212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Bootcamp Data Analyst with Excel</a:t>
            </a:r>
            <a:endParaRPr sz="1900" dirty="0">
              <a:solidFill>
                <a:srgbClr val="21212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" name="Google Shape;44;p1">
            <a:extLst>
              <a:ext uri="{FF2B5EF4-FFF2-40B4-BE49-F238E27FC236}">
                <a16:creationId xmlns:a16="http://schemas.microsoft.com/office/drawing/2014/main" id="{6EF5BA4F-A6F3-9E7C-5B93-747E224D82ED}"/>
              </a:ext>
            </a:extLst>
          </p:cNvPr>
          <p:cNvSpPr txBox="1"/>
          <p:nvPr/>
        </p:nvSpPr>
        <p:spPr>
          <a:xfrm>
            <a:off x="168200" y="1783463"/>
            <a:ext cx="4629432" cy="157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Compare pre and post COVID film performance to plan future production and marketing strategies</a:t>
            </a:r>
            <a:endParaRPr sz="1600" b="1" dirty="0">
              <a:solidFill>
                <a:schemeClr val="accent4">
                  <a:lumMod val="60000"/>
                  <a:lumOff val="4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2A32CB-4D31-BC2C-B97B-8714D173B6A9}"/>
              </a:ext>
            </a:extLst>
          </p:cNvPr>
          <p:cNvSpPr/>
          <p:nvPr/>
        </p:nvSpPr>
        <p:spPr>
          <a:xfrm>
            <a:off x="1037032" y="1264949"/>
            <a:ext cx="3534968" cy="812877"/>
          </a:xfrm>
          <a:custGeom>
            <a:avLst/>
            <a:gdLst>
              <a:gd name="connsiteX0" fmla="*/ 0 w 3534968"/>
              <a:gd name="connsiteY0" fmla="*/ 0 h 812877"/>
              <a:gd name="connsiteX1" fmla="*/ 589161 w 3534968"/>
              <a:gd name="connsiteY1" fmla="*/ 0 h 812877"/>
              <a:gd name="connsiteX2" fmla="*/ 1107623 w 3534968"/>
              <a:gd name="connsiteY2" fmla="*/ 0 h 812877"/>
              <a:gd name="connsiteX3" fmla="*/ 1661435 w 3534968"/>
              <a:gd name="connsiteY3" fmla="*/ 0 h 812877"/>
              <a:gd name="connsiteX4" fmla="*/ 2285946 w 3534968"/>
              <a:gd name="connsiteY4" fmla="*/ 0 h 812877"/>
              <a:gd name="connsiteX5" fmla="*/ 2875107 w 3534968"/>
              <a:gd name="connsiteY5" fmla="*/ 0 h 812877"/>
              <a:gd name="connsiteX6" fmla="*/ 3534968 w 3534968"/>
              <a:gd name="connsiteY6" fmla="*/ 0 h 812877"/>
              <a:gd name="connsiteX7" fmla="*/ 3534968 w 3534968"/>
              <a:gd name="connsiteY7" fmla="*/ 390181 h 812877"/>
              <a:gd name="connsiteX8" fmla="*/ 3534968 w 3534968"/>
              <a:gd name="connsiteY8" fmla="*/ 812877 h 812877"/>
              <a:gd name="connsiteX9" fmla="*/ 3051856 w 3534968"/>
              <a:gd name="connsiteY9" fmla="*/ 812877 h 812877"/>
              <a:gd name="connsiteX10" fmla="*/ 2498044 w 3534968"/>
              <a:gd name="connsiteY10" fmla="*/ 812877 h 812877"/>
              <a:gd name="connsiteX11" fmla="*/ 1838183 w 3534968"/>
              <a:gd name="connsiteY11" fmla="*/ 812877 h 812877"/>
              <a:gd name="connsiteX12" fmla="*/ 1355071 w 3534968"/>
              <a:gd name="connsiteY12" fmla="*/ 812877 h 812877"/>
              <a:gd name="connsiteX13" fmla="*/ 871959 w 3534968"/>
              <a:gd name="connsiteY13" fmla="*/ 812877 h 812877"/>
              <a:gd name="connsiteX14" fmla="*/ 0 w 3534968"/>
              <a:gd name="connsiteY14" fmla="*/ 812877 h 812877"/>
              <a:gd name="connsiteX15" fmla="*/ 0 w 3534968"/>
              <a:gd name="connsiteY15" fmla="*/ 406439 h 812877"/>
              <a:gd name="connsiteX16" fmla="*/ 0 w 3534968"/>
              <a:gd name="connsiteY16" fmla="*/ 0 h 812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534968" h="812877" extrusionOk="0">
                <a:moveTo>
                  <a:pt x="0" y="0"/>
                </a:moveTo>
                <a:cubicBezTo>
                  <a:pt x="128686" y="-6695"/>
                  <a:pt x="335127" y="-21079"/>
                  <a:pt x="589161" y="0"/>
                </a:cubicBezTo>
                <a:cubicBezTo>
                  <a:pt x="843195" y="21079"/>
                  <a:pt x="999517" y="-1139"/>
                  <a:pt x="1107623" y="0"/>
                </a:cubicBezTo>
                <a:cubicBezTo>
                  <a:pt x="1215729" y="1139"/>
                  <a:pt x="1501242" y="-10235"/>
                  <a:pt x="1661435" y="0"/>
                </a:cubicBezTo>
                <a:cubicBezTo>
                  <a:pt x="1821628" y="10235"/>
                  <a:pt x="2120732" y="-23184"/>
                  <a:pt x="2285946" y="0"/>
                </a:cubicBezTo>
                <a:cubicBezTo>
                  <a:pt x="2451160" y="23184"/>
                  <a:pt x="2718123" y="14316"/>
                  <a:pt x="2875107" y="0"/>
                </a:cubicBezTo>
                <a:cubicBezTo>
                  <a:pt x="3032091" y="-14316"/>
                  <a:pt x="3223682" y="24389"/>
                  <a:pt x="3534968" y="0"/>
                </a:cubicBezTo>
                <a:cubicBezTo>
                  <a:pt x="3548525" y="179084"/>
                  <a:pt x="3528002" y="205520"/>
                  <a:pt x="3534968" y="390181"/>
                </a:cubicBezTo>
                <a:cubicBezTo>
                  <a:pt x="3541934" y="574842"/>
                  <a:pt x="3530508" y="681464"/>
                  <a:pt x="3534968" y="812877"/>
                </a:cubicBezTo>
                <a:cubicBezTo>
                  <a:pt x="3413672" y="791369"/>
                  <a:pt x="3214327" y="804942"/>
                  <a:pt x="3051856" y="812877"/>
                </a:cubicBezTo>
                <a:cubicBezTo>
                  <a:pt x="2889385" y="820812"/>
                  <a:pt x="2757799" y="821902"/>
                  <a:pt x="2498044" y="812877"/>
                </a:cubicBezTo>
                <a:cubicBezTo>
                  <a:pt x="2238289" y="803852"/>
                  <a:pt x="2118541" y="801885"/>
                  <a:pt x="1838183" y="812877"/>
                </a:cubicBezTo>
                <a:cubicBezTo>
                  <a:pt x="1557825" y="823869"/>
                  <a:pt x="1515521" y="835744"/>
                  <a:pt x="1355071" y="812877"/>
                </a:cubicBezTo>
                <a:cubicBezTo>
                  <a:pt x="1194621" y="790010"/>
                  <a:pt x="1005944" y="799806"/>
                  <a:pt x="871959" y="812877"/>
                </a:cubicBezTo>
                <a:cubicBezTo>
                  <a:pt x="737974" y="825948"/>
                  <a:pt x="285977" y="834098"/>
                  <a:pt x="0" y="812877"/>
                </a:cubicBezTo>
                <a:cubicBezTo>
                  <a:pt x="-5732" y="639423"/>
                  <a:pt x="-861" y="526892"/>
                  <a:pt x="0" y="406439"/>
                </a:cubicBezTo>
                <a:cubicBezTo>
                  <a:pt x="861" y="285986"/>
                  <a:pt x="-4499" y="154217"/>
                  <a:pt x="0" y="0"/>
                </a:cubicBezTo>
                <a:close/>
              </a:path>
            </a:pathLst>
          </a:custGeom>
          <a:noFill/>
          <a:ln w="12700">
            <a:solidFill>
              <a:srgbClr val="1B5E20"/>
            </a:solidFill>
            <a:extLst>
              <a:ext uri="{C807C97D-BFC1-408E-A445-0C87EB9F89A2}">
                <ask:lineSketchStyleProps xmlns:ask="http://schemas.microsoft.com/office/drawing/2018/sketchyshapes" sd="426649898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Film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Bahasa universal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ribuan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judul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meramaikan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layar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lebar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tahun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menjangkau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penonton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global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EECA1A-4528-F5D4-E9EF-E19BEEC6AF5C}"/>
              </a:ext>
            </a:extLst>
          </p:cNvPr>
          <p:cNvSpPr/>
          <p:nvPr/>
        </p:nvSpPr>
        <p:spPr>
          <a:xfrm>
            <a:off x="4572000" y="2624416"/>
            <a:ext cx="3534968" cy="812877"/>
          </a:xfrm>
          <a:custGeom>
            <a:avLst/>
            <a:gdLst>
              <a:gd name="connsiteX0" fmla="*/ 0 w 3534968"/>
              <a:gd name="connsiteY0" fmla="*/ 0 h 812877"/>
              <a:gd name="connsiteX1" fmla="*/ 553812 w 3534968"/>
              <a:gd name="connsiteY1" fmla="*/ 0 h 812877"/>
              <a:gd name="connsiteX2" fmla="*/ 1036924 w 3534968"/>
              <a:gd name="connsiteY2" fmla="*/ 0 h 812877"/>
              <a:gd name="connsiteX3" fmla="*/ 1696785 w 3534968"/>
              <a:gd name="connsiteY3" fmla="*/ 0 h 812877"/>
              <a:gd name="connsiteX4" fmla="*/ 2250596 w 3534968"/>
              <a:gd name="connsiteY4" fmla="*/ 0 h 812877"/>
              <a:gd name="connsiteX5" fmla="*/ 2804408 w 3534968"/>
              <a:gd name="connsiteY5" fmla="*/ 0 h 812877"/>
              <a:gd name="connsiteX6" fmla="*/ 3534968 w 3534968"/>
              <a:gd name="connsiteY6" fmla="*/ 0 h 812877"/>
              <a:gd name="connsiteX7" fmla="*/ 3534968 w 3534968"/>
              <a:gd name="connsiteY7" fmla="*/ 390181 h 812877"/>
              <a:gd name="connsiteX8" fmla="*/ 3534968 w 3534968"/>
              <a:gd name="connsiteY8" fmla="*/ 812877 h 812877"/>
              <a:gd name="connsiteX9" fmla="*/ 3016506 w 3534968"/>
              <a:gd name="connsiteY9" fmla="*/ 812877 h 812877"/>
              <a:gd name="connsiteX10" fmla="*/ 2427345 w 3534968"/>
              <a:gd name="connsiteY10" fmla="*/ 812877 h 812877"/>
              <a:gd name="connsiteX11" fmla="*/ 1838183 w 3534968"/>
              <a:gd name="connsiteY11" fmla="*/ 812877 h 812877"/>
              <a:gd name="connsiteX12" fmla="*/ 1284372 w 3534968"/>
              <a:gd name="connsiteY12" fmla="*/ 812877 h 812877"/>
              <a:gd name="connsiteX13" fmla="*/ 624511 w 3534968"/>
              <a:gd name="connsiteY13" fmla="*/ 812877 h 812877"/>
              <a:gd name="connsiteX14" fmla="*/ 0 w 3534968"/>
              <a:gd name="connsiteY14" fmla="*/ 812877 h 812877"/>
              <a:gd name="connsiteX15" fmla="*/ 0 w 3534968"/>
              <a:gd name="connsiteY15" fmla="*/ 422696 h 812877"/>
              <a:gd name="connsiteX16" fmla="*/ 0 w 3534968"/>
              <a:gd name="connsiteY16" fmla="*/ 0 h 812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534968" h="812877" extrusionOk="0">
                <a:moveTo>
                  <a:pt x="0" y="0"/>
                </a:moveTo>
                <a:cubicBezTo>
                  <a:pt x="113461" y="-2687"/>
                  <a:pt x="374514" y="19512"/>
                  <a:pt x="553812" y="0"/>
                </a:cubicBezTo>
                <a:cubicBezTo>
                  <a:pt x="733110" y="-19512"/>
                  <a:pt x="923205" y="-22720"/>
                  <a:pt x="1036924" y="0"/>
                </a:cubicBezTo>
                <a:cubicBezTo>
                  <a:pt x="1150643" y="22720"/>
                  <a:pt x="1460947" y="8569"/>
                  <a:pt x="1696785" y="0"/>
                </a:cubicBezTo>
                <a:cubicBezTo>
                  <a:pt x="1932623" y="-8569"/>
                  <a:pt x="2003795" y="-26430"/>
                  <a:pt x="2250596" y="0"/>
                </a:cubicBezTo>
                <a:cubicBezTo>
                  <a:pt x="2497397" y="26430"/>
                  <a:pt x="2614166" y="-22642"/>
                  <a:pt x="2804408" y="0"/>
                </a:cubicBezTo>
                <a:cubicBezTo>
                  <a:pt x="2994650" y="22642"/>
                  <a:pt x="3242862" y="18631"/>
                  <a:pt x="3534968" y="0"/>
                </a:cubicBezTo>
                <a:cubicBezTo>
                  <a:pt x="3537447" y="177644"/>
                  <a:pt x="3531728" y="244329"/>
                  <a:pt x="3534968" y="390181"/>
                </a:cubicBezTo>
                <a:cubicBezTo>
                  <a:pt x="3538208" y="536033"/>
                  <a:pt x="3525049" y="724869"/>
                  <a:pt x="3534968" y="812877"/>
                </a:cubicBezTo>
                <a:cubicBezTo>
                  <a:pt x="3334333" y="830578"/>
                  <a:pt x="3202943" y="832736"/>
                  <a:pt x="3016506" y="812877"/>
                </a:cubicBezTo>
                <a:cubicBezTo>
                  <a:pt x="2830069" y="793018"/>
                  <a:pt x="2635054" y="785620"/>
                  <a:pt x="2427345" y="812877"/>
                </a:cubicBezTo>
                <a:cubicBezTo>
                  <a:pt x="2219636" y="840134"/>
                  <a:pt x="2106284" y="828056"/>
                  <a:pt x="1838183" y="812877"/>
                </a:cubicBezTo>
                <a:cubicBezTo>
                  <a:pt x="1570082" y="797698"/>
                  <a:pt x="1407387" y="798438"/>
                  <a:pt x="1284372" y="812877"/>
                </a:cubicBezTo>
                <a:cubicBezTo>
                  <a:pt x="1161357" y="827316"/>
                  <a:pt x="936399" y="831443"/>
                  <a:pt x="624511" y="812877"/>
                </a:cubicBezTo>
                <a:cubicBezTo>
                  <a:pt x="312623" y="794311"/>
                  <a:pt x="299336" y="793543"/>
                  <a:pt x="0" y="812877"/>
                </a:cubicBezTo>
                <a:cubicBezTo>
                  <a:pt x="-14409" y="623419"/>
                  <a:pt x="16965" y="509685"/>
                  <a:pt x="0" y="422696"/>
                </a:cubicBezTo>
                <a:cubicBezTo>
                  <a:pt x="-16965" y="335707"/>
                  <a:pt x="-12020" y="187825"/>
                  <a:pt x="0" y="0"/>
                </a:cubicBezTo>
                <a:close/>
              </a:path>
            </a:pathLst>
          </a:custGeom>
          <a:noFill/>
          <a:ln w="12700">
            <a:solidFill>
              <a:srgbClr val="1B5E2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Pada </a:t>
            </a:r>
            <a:r>
              <a:rPr lang="en-US" sz="1200" b="1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2019 Covid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muncul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memicu</a:t>
            </a:r>
            <a:r>
              <a:rPr lang="en-US" sz="1200" b="1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perubahan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berbagai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aspek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kehidupan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termasuk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industri</a:t>
            </a:r>
            <a:r>
              <a:rPr lang="en-US" sz="1200" b="1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layar</a:t>
            </a:r>
            <a:r>
              <a:rPr lang="en-US" sz="1200" b="1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lebar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di dunia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C81611-9C8C-150C-5509-EEF5C307C854}"/>
              </a:ext>
            </a:extLst>
          </p:cNvPr>
          <p:cNvSpPr/>
          <p:nvPr/>
        </p:nvSpPr>
        <p:spPr>
          <a:xfrm>
            <a:off x="1005664" y="4046964"/>
            <a:ext cx="3534968" cy="812877"/>
          </a:xfrm>
          <a:custGeom>
            <a:avLst/>
            <a:gdLst>
              <a:gd name="connsiteX0" fmla="*/ 0 w 3534968"/>
              <a:gd name="connsiteY0" fmla="*/ 0 h 812877"/>
              <a:gd name="connsiteX1" fmla="*/ 483112 w 3534968"/>
              <a:gd name="connsiteY1" fmla="*/ 0 h 812877"/>
              <a:gd name="connsiteX2" fmla="*/ 1001574 w 3534968"/>
              <a:gd name="connsiteY2" fmla="*/ 0 h 812877"/>
              <a:gd name="connsiteX3" fmla="*/ 1661435 w 3534968"/>
              <a:gd name="connsiteY3" fmla="*/ 0 h 812877"/>
              <a:gd name="connsiteX4" fmla="*/ 2250596 w 3534968"/>
              <a:gd name="connsiteY4" fmla="*/ 0 h 812877"/>
              <a:gd name="connsiteX5" fmla="*/ 2839758 w 3534968"/>
              <a:gd name="connsiteY5" fmla="*/ 0 h 812877"/>
              <a:gd name="connsiteX6" fmla="*/ 3534968 w 3534968"/>
              <a:gd name="connsiteY6" fmla="*/ 0 h 812877"/>
              <a:gd name="connsiteX7" fmla="*/ 3534968 w 3534968"/>
              <a:gd name="connsiteY7" fmla="*/ 382052 h 812877"/>
              <a:gd name="connsiteX8" fmla="*/ 3534968 w 3534968"/>
              <a:gd name="connsiteY8" fmla="*/ 812877 h 812877"/>
              <a:gd name="connsiteX9" fmla="*/ 2910457 w 3534968"/>
              <a:gd name="connsiteY9" fmla="*/ 812877 h 812877"/>
              <a:gd name="connsiteX10" fmla="*/ 2321296 w 3534968"/>
              <a:gd name="connsiteY10" fmla="*/ 812877 h 812877"/>
              <a:gd name="connsiteX11" fmla="*/ 1732134 w 3534968"/>
              <a:gd name="connsiteY11" fmla="*/ 812877 h 812877"/>
              <a:gd name="connsiteX12" fmla="*/ 1213672 w 3534968"/>
              <a:gd name="connsiteY12" fmla="*/ 812877 h 812877"/>
              <a:gd name="connsiteX13" fmla="*/ 553812 w 3534968"/>
              <a:gd name="connsiteY13" fmla="*/ 812877 h 812877"/>
              <a:gd name="connsiteX14" fmla="*/ 0 w 3534968"/>
              <a:gd name="connsiteY14" fmla="*/ 812877 h 812877"/>
              <a:gd name="connsiteX15" fmla="*/ 0 w 3534968"/>
              <a:gd name="connsiteY15" fmla="*/ 414567 h 812877"/>
              <a:gd name="connsiteX16" fmla="*/ 0 w 3534968"/>
              <a:gd name="connsiteY16" fmla="*/ 0 h 812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534968" h="812877" extrusionOk="0">
                <a:moveTo>
                  <a:pt x="0" y="0"/>
                </a:moveTo>
                <a:cubicBezTo>
                  <a:pt x="178922" y="-9162"/>
                  <a:pt x="250631" y="-3037"/>
                  <a:pt x="483112" y="0"/>
                </a:cubicBezTo>
                <a:cubicBezTo>
                  <a:pt x="715593" y="3037"/>
                  <a:pt x="745147" y="18945"/>
                  <a:pt x="1001574" y="0"/>
                </a:cubicBezTo>
                <a:cubicBezTo>
                  <a:pt x="1258001" y="-18945"/>
                  <a:pt x="1388154" y="21133"/>
                  <a:pt x="1661435" y="0"/>
                </a:cubicBezTo>
                <a:cubicBezTo>
                  <a:pt x="1934716" y="-21133"/>
                  <a:pt x="2097201" y="4965"/>
                  <a:pt x="2250596" y="0"/>
                </a:cubicBezTo>
                <a:cubicBezTo>
                  <a:pt x="2403991" y="-4965"/>
                  <a:pt x="2624878" y="-6013"/>
                  <a:pt x="2839758" y="0"/>
                </a:cubicBezTo>
                <a:cubicBezTo>
                  <a:pt x="3054638" y="6013"/>
                  <a:pt x="3224214" y="20684"/>
                  <a:pt x="3534968" y="0"/>
                </a:cubicBezTo>
                <a:cubicBezTo>
                  <a:pt x="3551401" y="185535"/>
                  <a:pt x="3542927" y="206317"/>
                  <a:pt x="3534968" y="382052"/>
                </a:cubicBezTo>
                <a:cubicBezTo>
                  <a:pt x="3527009" y="557787"/>
                  <a:pt x="3515451" y="616274"/>
                  <a:pt x="3534968" y="812877"/>
                </a:cubicBezTo>
                <a:cubicBezTo>
                  <a:pt x="3270065" y="798783"/>
                  <a:pt x="3160342" y="806584"/>
                  <a:pt x="2910457" y="812877"/>
                </a:cubicBezTo>
                <a:cubicBezTo>
                  <a:pt x="2660572" y="819170"/>
                  <a:pt x="2446861" y="800431"/>
                  <a:pt x="2321296" y="812877"/>
                </a:cubicBezTo>
                <a:cubicBezTo>
                  <a:pt x="2195731" y="825323"/>
                  <a:pt x="1946423" y="801734"/>
                  <a:pt x="1732134" y="812877"/>
                </a:cubicBezTo>
                <a:cubicBezTo>
                  <a:pt x="1517845" y="824020"/>
                  <a:pt x="1364106" y="790264"/>
                  <a:pt x="1213672" y="812877"/>
                </a:cubicBezTo>
                <a:cubicBezTo>
                  <a:pt x="1063238" y="835490"/>
                  <a:pt x="765494" y="798883"/>
                  <a:pt x="553812" y="812877"/>
                </a:cubicBezTo>
                <a:cubicBezTo>
                  <a:pt x="342130" y="826871"/>
                  <a:pt x="185973" y="831868"/>
                  <a:pt x="0" y="812877"/>
                </a:cubicBezTo>
                <a:cubicBezTo>
                  <a:pt x="-12562" y="728956"/>
                  <a:pt x="-9767" y="595090"/>
                  <a:pt x="0" y="414567"/>
                </a:cubicBezTo>
                <a:cubicBezTo>
                  <a:pt x="9767" y="234044"/>
                  <a:pt x="938" y="84204"/>
                  <a:pt x="0" y="0"/>
                </a:cubicBezTo>
                <a:close/>
              </a:path>
            </a:pathLst>
          </a:custGeom>
          <a:noFill/>
          <a:ln w="12700">
            <a:solidFill>
              <a:srgbClr val="1B5E20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Membaca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perubahan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penting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merumuskan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strategi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produksi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pemasaran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adaptif</a:t>
            </a:r>
            <a:endParaRPr lang="en-US" sz="12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DC69B035-4F39-DEE4-21FF-09663EB1BCFD}"/>
              </a:ext>
            </a:extLst>
          </p:cNvPr>
          <p:cNvSpPr/>
          <p:nvPr/>
        </p:nvSpPr>
        <p:spPr>
          <a:xfrm rot="2600610">
            <a:off x="7248186" y="570195"/>
            <a:ext cx="2205801" cy="359994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2E7D32"/>
          </a:solidFill>
          <a:ln>
            <a:noFill/>
          </a:ln>
          <a:effectLst>
            <a:outerShdw blurRad="127000" dist="63500" dir="9600000" algn="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Showcard Gothic" panose="04020904020102020604" pitchFamily="82" charset="0"/>
              </a:rPr>
              <a:t>OVERVIEW</a:t>
            </a:r>
          </a:p>
        </p:txBody>
      </p:sp>
      <p:pic>
        <p:nvPicPr>
          <p:cNvPr id="1026" name="Picture 2" descr="Film, Bioskop, Video, Kamera">
            <a:extLst>
              <a:ext uri="{FF2B5EF4-FFF2-40B4-BE49-F238E27FC236}">
                <a16:creationId xmlns:a16="http://schemas.microsoft.com/office/drawing/2014/main" id="{1B675081-2D68-931B-0F74-EDC6E8BDF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1097296"/>
            <a:ext cx="1620000" cy="1047875"/>
          </a:xfrm>
          <a:prstGeom prst="rect">
            <a:avLst/>
          </a:prstGeom>
          <a:ln w="12700" cap="sq">
            <a:solidFill>
              <a:srgbClr val="1B5E2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vid, Korona, Coronavirus, Virus">
            <a:extLst>
              <a:ext uri="{FF2B5EF4-FFF2-40B4-BE49-F238E27FC236}">
                <a16:creationId xmlns:a16="http://schemas.microsoft.com/office/drawing/2014/main" id="{04789A08-6DFC-14A5-7282-0CF099D35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700" y="2489181"/>
            <a:ext cx="1620000" cy="1083346"/>
          </a:xfrm>
          <a:prstGeom prst="rect">
            <a:avLst/>
          </a:prstGeom>
          <a:ln w="12700" cap="sq">
            <a:solidFill>
              <a:srgbClr val="1B5E2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angan, Kaca Pembesar, Bumi, Bola Dunia">
            <a:extLst>
              <a:ext uri="{FF2B5EF4-FFF2-40B4-BE49-F238E27FC236}">
                <a16:creationId xmlns:a16="http://schemas.microsoft.com/office/drawing/2014/main" id="{1DC319C8-322A-8247-2D6A-DB461EBC4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3885648"/>
            <a:ext cx="1620000" cy="1103616"/>
          </a:xfrm>
          <a:prstGeom prst="rect">
            <a:avLst/>
          </a:prstGeom>
          <a:ln w="12700" cap="sq">
            <a:solidFill>
              <a:srgbClr val="1B5E2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B7A4D7-7DB3-DEA8-F1F1-56D78A87DDCE}"/>
              </a:ext>
            </a:extLst>
          </p:cNvPr>
          <p:cNvSpPr/>
          <p:nvPr/>
        </p:nvSpPr>
        <p:spPr>
          <a:xfrm>
            <a:off x="1711922" y="1706370"/>
            <a:ext cx="2561559" cy="2869180"/>
          </a:xfrm>
          <a:prstGeom prst="roundRect">
            <a:avLst/>
          </a:prstGeom>
          <a:solidFill>
            <a:schemeClr val="bg1"/>
          </a:solidFill>
          <a:ln>
            <a:solidFill>
              <a:srgbClr val="1B5E20">
                <a:alpha val="4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FC744992-0286-7D49-9977-5403BFF58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2392" y="2035647"/>
            <a:ext cx="437915" cy="43791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8BC23F-F17C-1CC7-378C-F201F31D1917}"/>
              </a:ext>
            </a:extLst>
          </p:cNvPr>
          <p:cNvCxnSpPr>
            <a:cxnSpLocks/>
          </p:cNvCxnSpPr>
          <p:nvPr/>
        </p:nvCxnSpPr>
        <p:spPr>
          <a:xfrm>
            <a:off x="1711922" y="2577266"/>
            <a:ext cx="2561559" cy="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ABE13C6-BA41-C24F-5B85-3554D8F63C27}"/>
              </a:ext>
            </a:extLst>
          </p:cNvPr>
          <p:cNvSpPr txBox="1"/>
          <p:nvPr/>
        </p:nvSpPr>
        <p:spPr>
          <a:xfrm>
            <a:off x="2219961" y="2100983"/>
            <a:ext cx="2051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B5E2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IDENTIFIKASI MASALAH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7684E3-FFF1-89B4-B9B1-FDE91352A5A7}"/>
              </a:ext>
            </a:extLst>
          </p:cNvPr>
          <p:cNvSpPr/>
          <p:nvPr/>
        </p:nvSpPr>
        <p:spPr>
          <a:xfrm>
            <a:off x="5115849" y="1706370"/>
            <a:ext cx="2561559" cy="2869180"/>
          </a:xfrm>
          <a:prstGeom prst="roundRect">
            <a:avLst/>
          </a:prstGeom>
          <a:solidFill>
            <a:schemeClr val="bg1"/>
          </a:solidFill>
          <a:ln>
            <a:solidFill>
              <a:srgbClr val="1B5E20">
                <a:alpha val="4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2" name="Graphic 11" descr="Bullseye with solid fill">
            <a:extLst>
              <a:ext uri="{FF2B5EF4-FFF2-40B4-BE49-F238E27FC236}">
                <a16:creationId xmlns:a16="http://schemas.microsoft.com/office/drawing/2014/main" id="{9B5B6190-54A3-9491-811A-1AD4C1F60F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192990" y="2031698"/>
            <a:ext cx="437915" cy="43791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8BD357-9DC7-3F2B-3F9D-4B625F30D198}"/>
              </a:ext>
            </a:extLst>
          </p:cNvPr>
          <p:cNvCxnSpPr>
            <a:cxnSpLocks/>
          </p:cNvCxnSpPr>
          <p:nvPr/>
        </p:nvCxnSpPr>
        <p:spPr>
          <a:xfrm>
            <a:off x="5111937" y="2577238"/>
            <a:ext cx="2565471" cy="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B873858-5AFC-3206-659E-701A7D60BEFE}"/>
              </a:ext>
            </a:extLst>
          </p:cNvPr>
          <p:cNvSpPr txBox="1"/>
          <p:nvPr/>
        </p:nvSpPr>
        <p:spPr>
          <a:xfrm>
            <a:off x="5592805" y="2100207"/>
            <a:ext cx="1644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B5E2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TUJUAN ANALISIS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520961-7832-D2DE-17AA-27CC6223858E}"/>
              </a:ext>
            </a:extLst>
          </p:cNvPr>
          <p:cNvSpPr txBox="1"/>
          <p:nvPr/>
        </p:nvSpPr>
        <p:spPr>
          <a:xfrm>
            <a:off x="1867372" y="2799720"/>
            <a:ext cx="2545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Penurunan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drastis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jumlah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produksi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film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sesudah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Covid-19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F253FC-0D6D-9774-3103-1FE2F8D9CDEE}"/>
              </a:ext>
            </a:extLst>
          </p:cNvPr>
          <p:cNvSpPr txBox="1"/>
          <p:nvPr/>
        </p:nvSpPr>
        <p:spPr>
          <a:xfrm>
            <a:off x="1856354" y="3251975"/>
            <a:ext cx="254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Penurunan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signifikan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rata-rata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pendapatan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keuntungan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per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tahun</a:t>
            </a:r>
            <a:endParaRPr lang="en-US" sz="10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ED9CF6-83A1-B88A-FB0C-74403FE57C62}"/>
              </a:ext>
            </a:extLst>
          </p:cNvPr>
          <p:cNvSpPr txBox="1"/>
          <p:nvPr/>
        </p:nvSpPr>
        <p:spPr>
          <a:xfrm>
            <a:off x="1802989" y="3857978"/>
            <a:ext cx="2545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Perubahan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preferensi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genre yang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mempengaruhi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strategi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pemasaran</a:t>
            </a:r>
            <a:endParaRPr lang="en-US" sz="10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9CA8DF-DA09-1DCE-52C1-24B5B769C3CD}"/>
              </a:ext>
            </a:extLst>
          </p:cNvPr>
          <p:cNvSpPr txBox="1"/>
          <p:nvPr/>
        </p:nvSpPr>
        <p:spPr>
          <a:xfrm rot="20619983">
            <a:off x="1520145" y="2619715"/>
            <a:ext cx="346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C107"/>
                </a:solidFill>
                <a:latin typeface="Playbill" panose="040506030A0602020202" pitchFamily="82" charset="0"/>
                <a:cs typeface="Poppins SemiBold" panose="00000700000000000000" pitchFamily="2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C343CE-4C8E-DE84-CD0E-75BB71A61BE1}"/>
              </a:ext>
            </a:extLst>
          </p:cNvPr>
          <p:cNvSpPr txBox="1"/>
          <p:nvPr/>
        </p:nvSpPr>
        <p:spPr>
          <a:xfrm rot="20619983">
            <a:off x="1540028" y="3147546"/>
            <a:ext cx="384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C107"/>
                </a:solidFill>
                <a:latin typeface="Playbill" panose="040506030A0602020202" pitchFamily="82" charset="0"/>
                <a:cs typeface="Poppins SemiBold" panose="00000700000000000000" pitchFamily="2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5F0B9C-7782-DD93-F72F-106D507324C9}"/>
              </a:ext>
            </a:extLst>
          </p:cNvPr>
          <p:cNvSpPr txBox="1"/>
          <p:nvPr/>
        </p:nvSpPr>
        <p:spPr>
          <a:xfrm rot="20619983">
            <a:off x="1544030" y="3682204"/>
            <a:ext cx="492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C107"/>
                </a:solidFill>
                <a:latin typeface="Playbill" panose="040506030A0602020202" pitchFamily="82" charset="0"/>
                <a:cs typeface="Poppins SemiBold" panose="00000700000000000000" pitchFamily="2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60FC65-B099-D95F-98C9-60FA49DAB13E}"/>
              </a:ext>
            </a:extLst>
          </p:cNvPr>
          <p:cNvSpPr txBox="1"/>
          <p:nvPr/>
        </p:nvSpPr>
        <p:spPr>
          <a:xfrm>
            <a:off x="5192990" y="2843497"/>
            <a:ext cx="2545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Membandingkan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performa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film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sesudah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Covid-19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2FB366-7E4E-9D97-CAEF-C63CFCADD629}"/>
              </a:ext>
            </a:extLst>
          </p:cNvPr>
          <p:cNvSpPr txBox="1"/>
          <p:nvPr/>
        </p:nvSpPr>
        <p:spPr>
          <a:xfrm>
            <a:off x="5192990" y="3297517"/>
            <a:ext cx="2545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Identifikasi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tren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produksi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pendapatan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, ROI dan genre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C25CE3-E0CD-0961-CAA8-D042078907F7}"/>
              </a:ext>
            </a:extLst>
          </p:cNvPr>
          <p:cNvSpPr txBox="1"/>
          <p:nvPr/>
        </p:nvSpPr>
        <p:spPr>
          <a:xfrm>
            <a:off x="5192990" y="3869276"/>
            <a:ext cx="273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Memberikan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insight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perencanaan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produksi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&amp;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pemasaran</a:t>
            </a:r>
            <a:endParaRPr lang="en-US" sz="10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5066D8-0878-B6AA-35EE-84DD846E7864}"/>
              </a:ext>
            </a:extLst>
          </p:cNvPr>
          <p:cNvSpPr txBox="1"/>
          <p:nvPr/>
        </p:nvSpPr>
        <p:spPr>
          <a:xfrm rot="20619983">
            <a:off x="4917645" y="2645832"/>
            <a:ext cx="3463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C107"/>
                </a:solidFill>
                <a:latin typeface="Playbill" panose="040506030A0602020202" pitchFamily="82" charset="0"/>
                <a:cs typeface="Poppins SemiBold" panose="00000700000000000000" pitchFamily="2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D841CB-3282-227A-94CE-2C90035EADFC}"/>
              </a:ext>
            </a:extLst>
          </p:cNvPr>
          <p:cNvSpPr txBox="1"/>
          <p:nvPr/>
        </p:nvSpPr>
        <p:spPr>
          <a:xfrm rot="20619983">
            <a:off x="4938783" y="3142187"/>
            <a:ext cx="346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C107"/>
                </a:solidFill>
                <a:latin typeface="Playbill" panose="040506030A0602020202" pitchFamily="82" charset="0"/>
                <a:cs typeface="Poppins SemiBold" panose="00000700000000000000" pitchFamily="2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3D9345-0AC1-7CD8-F1C6-358E2A07B822}"/>
              </a:ext>
            </a:extLst>
          </p:cNvPr>
          <p:cNvSpPr txBox="1"/>
          <p:nvPr/>
        </p:nvSpPr>
        <p:spPr>
          <a:xfrm rot="20619983">
            <a:off x="4969175" y="3682205"/>
            <a:ext cx="3463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C107"/>
                </a:solidFill>
                <a:latin typeface="Playbill" panose="040506030A0602020202" pitchFamily="82" charset="0"/>
                <a:cs typeface="Poppins SemiBold" panose="00000700000000000000" pitchFamily="2" charset="0"/>
              </a:rPr>
              <a:t>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535C6B-2C8E-726B-0F02-27749F165A89}"/>
              </a:ext>
            </a:extLst>
          </p:cNvPr>
          <p:cNvSpPr/>
          <p:nvPr/>
        </p:nvSpPr>
        <p:spPr>
          <a:xfrm>
            <a:off x="0" y="797442"/>
            <a:ext cx="9144000" cy="844416"/>
          </a:xfrm>
          <a:prstGeom prst="rect">
            <a:avLst/>
          </a:prstGeom>
          <a:ln w="25400">
            <a:solidFill>
              <a:srgbClr val="1B5E2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307D0B-A0AA-8106-C101-80B8798B2385}"/>
              </a:ext>
            </a:extLst>
          </p:cNvPr>
          <p:cNvSpPr txBox="1"/>
          <p:nvPr/>
        </p:nvSpPr>
        <p:spPr>
          <a:xfrm>
            <a:off x="0" y="732930"/>
            <a:ext cx="5034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B5E20"/>
                </a:solidFill>
                <a:latin typeface="Showcard Gothic" panose="04020904020102020604" pitchFamily="82" charset="0"/>
              </a:rPr>
              <a:t>Why Does This Matter 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FDB1D2-769D-5FA8-06D3-FE782003DF39}"/>
              </a:ext>
            </a:extLst>
          </p:cNvPr>
          <p:cNvSpPr txBox="1"/>
          <p:nvPr/>
        </p:nvSpPr>
        <p:spPr>
          <a:xfrm>
            <a:off x="1553215" y="1181495"/>
            <a:ext cx="72065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Industri </a:t>
            </a:r>
            <a:r>
              <a:rPr lang="en-US" sz="1100" dirty="0">
                <a:highlight>
                  <a:srgbClr val="FFC107"/>
                </a:highlight>
                <a:latin typeface="Poppins SemiBold" panose="00000700000000000000" pitchFamily="2" charset="0"/>
                <a:cs typeface="Poppins SemiBold" panose="00000700000000000000" pitchFamily="2" charset="0"/>
              </a:rPr>
              <a:t>Layar Lebar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mengalami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efek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besar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akibat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Covid-19.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Sehingga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memahami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perubahan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ini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dapat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menjadi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langkah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strategis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untuk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ke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depan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47CFC065-94E6-B2B3-BC3F-4D2A31B7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D5EDCD-4772-FDE2-4E2E-83F0BF00028D}"/>
              </a:ext>
            </a:extLst>
          </p:cNvPr>
          <p:cNvSpPr/>
          <p:nvPr/>
        </p:nvSpPr>
        <p:spPr>
          <a:xfrm>
            <a:off x="0" y="797443"/>
            <a:ext cx="9144000" cy="523220"/>
          </a:xfrm>
          <a:prstGeom prst="rect">
            <a:avLst/>
          </a:prstGeom>
          <a:ln w="25400">
            <a:solidFill>
              <a:srgbClr val="1B5E2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90D9B-2E3D-CFEA-4558-16762C7B4916}"/>
              </a:ext>
            </a:extLst>
          </p:cNvPr>
          <p:cNvSpPr txBox="1"/>
          <p:nvPr/>
        </p:nvSpPr>
        <p:spPr>
          <a:xfrm>
            <a:off x="0" y="732930"/>
            <a:ext cx="5034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B5E20"/>
                </a:solidFill>
                <a:latin typeface="Showcard Gothic" panose="04020904020102020604" pitchFamily="82" charset="0"/>
              </a:rPr>
              <a:t>Behind the numbers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01A13E-F8DC-9373-AEBD-EA56BC0C8C71}"/>
              </a:ext>
            </a:extLst>
          </p:cNvPr>
          <p:cNvSpPr/>
          <p:nvPr/>
        </p:nvSpPr>
        <p:spPr>
          <a:xfrm>
            <a:off x="5069304" y="1510748"/>
            <a:ext cx="2561557" cy="3074740"/>
          </a:xfrm>
          <a:prstGeom prst="roundRect">
            <a:avLst/>
          </a:prstGeom>
          <a:solidFill>
            <a:schemeClr val="bg1"/>
          </a:solidFill>
          <a:ln>
            <a:solidFill>
              <a:srgbClr val="1B5E20">
                <a:alpha val="4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5A5411-2B88-94A7-2056-7835562582B9}"/>
              </a:ext>
            </a:extLst>
          </p:cNvPr>
          <p:cNvSpPr/>
          <p:nvPr/>
        </p:nvSpPr>
        <p:spPr>
          <a:xfrm>
            <a:off x="1513139" y="1510748"/>
            <a:ext cx="2561557" cy="3074740"/>
          </a:xfrm>
          <a:prstGeom prst="roundRect">
            <a:avLst/>
          </a:prstGeom>
          <a:solidFill>
            <a:schemeClr val="bg1"/>
          </a:solidFill>
          <a:ln>
            <a:solidFill>
              <a:srgbClr val="1B5E20">
                <a:alpha val="4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6763EC-C446-0042-1FB1-CF0EC0BCB59E}"/>
              </a:ext>
            </a:extLst>
          </p:cNvPr>
          <p:cNvCxnSpPr>
            <a:cxnSpLocks/>
          </p:cNvCxnSpPr>
          <p:nvPr/>
        </p:nvCxnSpPr>
        <p:spPr>
          <a:xfrm>
            <a:off x="1513137" y="2399110"/>
            <a:ext cx="2561559" cy="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B0BEA5-1A57-935F-D8EB-67E2751DC777}"/>
              </a:ext>
            </a:extLst>
          </p:cNvPr>
          <p:cNvSpPr txBox="1"/>
          <p:nvPr/>
        </p:nvSpPr>
        <p:spPr>
          <a:xfrm>
            <a:off x="2100691" y="1922079"/>
            <a:ext cx="2051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B5E2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DATA	</a:t>
            </a:r>
          </a:p>
        </p:txBody>
      </p:sp>
      <p:pic>
        <p:nvPicPr>
          <p:cNvPr id="11" name="Graphic 10" descr="Arrow circle with solid fill">
            <a:extLst>
              <a:ext uri="{FF2B5EF4-FFF2-40B4-BE49-F238E27FC236}">
                <a16:creationId xmlns:a16="http://schemas.microsoft.com/office/drawing/2014/main" id="{FB68A52E-1C6E-A955-A797-DAB0F9C92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229612" y="1853569"/>
            <a:ext cx="432000" cy="432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212822-ED43-A99A-BFC6-6BC7C1A212F0}"/>
              </a:ext>
            </a:extLst>
          </p:cNvPr>
          <p:cNvCxnSpPr>
            <a:cxnSpLocks/>
          </p:cNvCxnSpPr>
          <p:nvPr/>
        </p:nvCxnSpPr>
        <p:spPr>
          <a:xfrm>
            <a:off x="5069304" y="2399110"/>
            <a:ext cx="2565471" cy="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00B177-584E-74B8-33BA-1E6CC5519318}"/>
              </a:ext>
            </a:extLst>
          </p:cNvPr>
          <p:cNvSpPr txBox="1"/>
          <p:nvPr/>
        </p:nvSpPr>
        <p:spPr>
          <a:xfrm>
            <a:off x="5629428" y="1922079"/>
            <a:ext cx="1644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B5E2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OUR DATA 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E7A22A-539F-A2EA-807E-CAA022198E93}"/>
              </a:ext>
            </a:extLst>
          </p:cNvPr>
          <p:cNvSpPr txBox="1"/>
          <p:nvPr/>
        </p:nvSpPr>
        <p:spPr>
          <a:xfrm>
            <a:off x="2015359" y="2645060"/>
            <a:ext cx="1825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Poppins Medium" panose="00000600000000000000" pitchFamily="2" charset="0"/>
                <a:cs typeface="Poppins Medium" panose="00000600000000000000" pitchFamily="2" charset="0"/>
              </a:rPr>
              <a:t>Full TMDB Movies Dataset 2024 (1M Movies) – </a:t>
            </a:r>
            <a:r>
              <a:rPr lang="en-US" sz="800" i="1" dirty="0">
                <a:latin typeface="Poppins Medium" panose="00000600000000000000" pitchFamily="2" charset="0"/>
                <a:cs typeface="Poppins Medium" panose="00000600000000000000" pitchFamily="2" charset="0"/>
              </a:rPr>
              <a:t>www.Kaggle.com</a:t>
            </a:r>
          </a:p>
        </p:txBody>
      </p:sp>
      <p:pic>
        <p:nvPicPr>
          <p:cNvPr id="27" name="Graphic 26" descr="Document with solid fill">
            <a:extLst>
              <a:ext uri="{FF2B5EF4-FFF2-40B4-BE49-F238E27FC236}">
                <a16:creationId xmlns:a16="http://schemas.microsoft.com/office/drawing/2014/main" id="{9E2A042F-0AFF-70FC-873E-E1CA0EBF3A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2738" y="1787022"/>
            <a:ext cx="468000" cy="468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D8CDC8D-597F-D702-7910-A80BAA1D57E5}"/>
              </a:ext>
            </a:extLst>
          </p:cNvPr>
          <p:cNvSpPr txBox="1"/>
          <p:nvPr/>
        </p:nvSpPr>
        <p:spPr>
          <a:xfrm>
            <a:off x="1722738" y="2445107"/>
            <a:ext cx="707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Source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70D8B2-5C1F-5AB4-DD73-033E23D4EBBF}"/>
              </a:ext>
            </a:extLst>
          </p:cNvPr>
          <p:cNvSpPr txBox="1"/>
          <p:nvPr/>
        </p:nvSpPr>
        <p:spPr>
          <a:xfrm>
            <a:off x="1722010" y="2974126"/>
            <a:ext cx="707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Sample :</a:t>
            </a:r>
            <a:endParaRPr lang="en-US" sz="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57EAA6-161B-D6E0-3C85-824E6177B086}"/>
              </a:ext>
            </a:extLst>
          </p:cNvPr>
          <p:cNvSpPr txBox="1"/>
          <p:nvPr/>
        </p:nvSpPr>
        <p:spPr>
          <a:xfrm>
            <a:off x="2027899" y="3173699"/>
            <a:ext cx="22332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Poppins Medium" panose="00000600000000000000" pitchFamily="2" charset="0"/>
                <a:cs typeface="Poppins Medium" panose="00000600000000000000" pitchFamily="2" charset="0"/>
              </a:rPr>
              <a:t>Release year 2010 - 2024</a:t>
            </a:r>
          </a:p>
        </p:txBody>
      </p:sp>
      <p:pic>
        <p:nvPicPr>
          <p:cNvPr id="15" name="Graphic 14" descr="Research with solid fill">
            <a:extLst>
              <a:ext uri="{FF2B5EF4-FFF2-40B4-BE49-F238E27FC236}">
                <a16:creationId xmlns:a16="http://schemas.microsoft.com/office/drawing/2014/main" id="{67FF7832-F9F4-B2FF-0EEF-F5C6EE5B6D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6289" y="2433250"/>
            <a:ext cx="276999" cy="276999"/>
          </a:xfrm>
          <a:prstGeom prst="rect">
            <a:avLst/>
          </a:prstGeom>
        </p:spPr>
      </p:pic>
      <p:pic>
        <p:nvPicPr>
          <p:cNvPr id="16" name="Graphic 15" descr="Research with solid fill">
            <a:extLst>
              <a:ext uri="{FF2B5EF4-FFF2-40B4-BE49-F238E27FC236}">
                <a16:creationId xmlns:a16="http://schemas.microsoft.com/office/drawing/2014/main" id="{84994F8E-A005-7D5E-1318-51CF64CEDA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5561" y="2926979"/>
            <a:ext cx="276999" cy="2769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311D4D-D6BF-D5D3-45D7-F33DFF921336}"/>
              </a:ext>
            </a:extLst>
          </p:cNvPr>
          <p:cNvSpPr txBox="1"/>
          <p:nvPr/>
        </p:nvSpPr>
        <p:spPr>
          <a:xfrm>
            <a:off x="1722010" y="3334620"/>
            <a:ext cx="1085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Key columns :</a:t>
            </a:r>
            <a:endParaRPr lang="en-US" sz="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A8B700-7AEA-7BEE-1AEE-577887AAC936}"/>
              </a:ext>
            </a:extLst>
          </p:cNvPr>
          <p:cNvSpPr txBox="1"/>
          <p:nvPr/>
        </p:nvSpPr>
        <p:spPr>
          <a:xfrm>
            <a:off x="2015359" y="3545699"/>
            <a:ext cx="213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Poppins Medium" panose="00000600000000000000" pitchFamily="2" charset="0"/>
                <a:cs typeface="Poppins Medium" panose="00000600000000000000" pitchFamily="2" charset="0"/>
              </a:rPr>
              <a:t>Id, title, </a:t>
            </a:r>
            <a:r>
              <a:rPr lang="en-US" sz="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release_date</a:t>
            </a:r>
            <a:r>
              <a:rPr lang="en-US" sz="800" dirty="0">
                <a:latin typeface="Poppins Medium" panose="00000600000000000000" pitchFamily="2" charset="0"/>
                <a:cs typeface="Poppins Medium" panose="00000600000000000000" pitchFamily="2" charset="0"/>
              </a:rPr>
              <a:t>, budget, revenue, genre, </a:t>
            </a:r>
            <a:r>
              <a:rPr lang="en-US" sz="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etc</a:t>
            </a:r>
            <a:endParaRPr lang="en-US" sz="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9" name="Graphic 18" descr="Research with solid fill">
            <a:extLst>
              <a:ext uri="{FF2B5EF4-FFF2-40B4-BE49-F238E27FC236}">
                <a16:creationId xmlns:a16="http://schemas.microsoft.com/office/drawing/2014/main" id="{D2B06BDC-9333-2A3D-F585-290DC1BCEB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5561" y="3287473"/>
            <a:ext cx="276999" cy="27699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C883938-B792-5800-F6A8-9768925B4C0E}"/>
              </a:ext>
            </a:extLst>
          </p:cNvPr>
          <p:cNvSpPr txBox="1"/>
          <p:nvPr/>
        </p:nvSpPr>
        <p:spPr>
          <a:xfrm>
            <a:off x="1722010" y="3816925"/>
            <a:ext cx="1085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Split </a:t>
            </a:r>
            <a:r>
              <a:rPr lang="en-US" sz="900" b="1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infto</a:t>
            </a:r>
            <a:r>
              <a:rPr lang="en-US" sz="9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  <a:endParaRPr lang="en-US" sz="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DBF3B3-86AC-C1CD-2993-4C6CE3D84B5C}"/>
              </a:ext>
            </a:extLst>
          </p:cNvPr>
          <p:cNvSpPr txBox="1"/>
          <p:nvPr/>
        </p:nvSpPr>
        <p:spPr>
          <a:xfrm>
            <a:off x="2015360" y="4028004"/>
            <a:ext cx="15531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Pre</a:t>
            </a:r>
            <a:r>
              <a:rPr lang="en-US" sz="800" dirty="0">
                <a:latin typeface="Poppins Medium" panose="00000600000000000000" pitchFamily="2" charset="0"/>
                <a:cs typeface="Poppins Medium" panose="00000600000000000000" pitchFamily="2" charset="0"/>
              </a:rPr>
              <a:t>-Covid ( 2010 – 2019 )</a:t>
            </a:r>
          </a:p>
        </p:txBody>
      </p:sp>
      <p:pic>
        <p:nvPicPr>
          <p:cNvPr id="32" name="Graphic 31" descr="Research with solid fill">
            <a:extLst>
              <a:ext uri="{FF2B5EF4-FFF2-40B4-BE49-F238E27FC236}">
                <a16:creationId xmlns:a16="http://schemas.microsoft.com/office/drawing/2014/main" id="{8FB1F7F4-2939-0AB4-7143-E4C980842A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5561" y="3769778"/>
            <a:ext cx="276999" cy="2769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B71BC20-7ED8-7D3F-D0A5-EF22B3635034}"/>
              </a:ext>
            </a:extLst>
          </p:cNvPr>
          <p:cNvSpPr txBox="1"/>
          <p:nvPr/>
        </p:nvSpPr>
        <p:spPr>
          <a:xfrm>
            <a:off x="2027898" y="4180404"/>
            <a:ext cx="1571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Post</a:t>
            </a:r>
            <a:r>
              <a:rPr lang="en-US" sz="800" dirty="0">
                <a:latin typeface="Poppins Medium" panose="00000600000000000000" pitchFamily="2" charset="0"/>
                <a:cs typeface="Poppins Medium" panose="00000600000000000000" pitchFamily="2" charset="0"/>
              </a:rPr>
              <a:t>-Covid ( 2020 – 2024 )</a:t>
            </a:r>
          </a:p>
        </p:txBody>
      </p:sp>
      <p:sp>
        <p:nvSpPr>
          <p:cNvPr id="34" name="Flowchart: Off-page Connector 33">
            <a:extLst>
              <a:ext uri="{FF2B5EF4-FFF2-40B4-BE49-F238E27FC236}">
                <a16:creationId xmlns:a16="http://schemas.microsoft.com/office/drawing/2014/main" id="{80C30810-4E84-862D-8BEA-F0B307B82F73}"/>
              </a:ext>
            </a:extLst>
          </p:cNvPr>
          <p:cNvSpPr/>
          <p:nvPr/>
        </p:nvSpPr>
        <p:spPr>
          <a:xfrm>
            <a:off x="5822948" y="2517607"/>
            <a:ext cx="1111252" cy="366440"/>
          </a:xfrm>
          <a:prstGeom prst="flowChartOffpageConnector">
            <a:avLst/>
          </a:prstGeom>
          <a:noFill/>
          <a:ln w="38100" cmpd="sng">
            <a:solidFill>
              <a:srgbClr val="66BB6A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4750"/>
                      <a:gd name="connsiteY0" fmla="*/ 0 h 396578"/>
                      <a:gd name="connsiteX1" fmla="*/ 1174750 w 1174750"/>
                      <a:gd name="connsiteY1" fmla="*/ 0 h 396578"/>
                      <a:gd name="connsiteX2" fmla="*/ 1174750 w 1174750"/>
                      <a:gd name="connsiteY2" fmla="*/ 317262 h 396578"/>
                      <a:gd name="connsiteX3" fmla="*/ 587375 w 1174750"/>
                      <a:gd name="connsiteY3" fmla="*/ 396578 h 396578"/>
                      <a:gd name="connsiteX4" fmla="*/ 0 w 1174750"/>
                      <a:gd name="connsiteY4" fmla="*/ 317262 h 396578"/>
                      <a:gd name="connsiteX5" fmla="*/ 0 w 1174750"/>
                      <a:gd name="connsiteY5" fmla="*/ 0 h 3965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174750" h="396578" extrusionOk="0">
                        <a:moveTo>
                          <a:pt x="0" y="0"/>
                        </a:moveTo>
                        <a:cubicBezTo>
                          <a:pt x="253740" y="58418"/>
                          <a:pt x="678115" y="-24831"/>
                          <a:pt x="1174750" y="0"/>
                        </a:cubicBezTo>
                        <a:cubicBezTo>
                          <a:pt x="1154875" y="106752"/>
                          <a:pt x="1150305" y="204086"/>
                          <a:pt x="1174750" y="317262"/>
                        </a:cubicBezTo>
                        <a:cubicBezTo>
                          <a:pt x="925516" y="328228"/>
                          <a:pt x="717043" y="361365"/>
                          <a:pt x="587375" y="396578"/>
                        </a:cubicBezTo>
                        <a:cubicBezTo>
                          <a:pt x="382628" y="401461"/>
                          <a:pt x="141781" y="327592"/>
                          <a:pt x="0" y="317262"/>
                        </a:cubicBezTo>
                        <a:cubicBezTo>
                          <a:pt x="20227" y="242364"/>
                          <a:pt x="-14813" y="3705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Database</a:t>
            </a:r>
          </a:p>
        </p:txBody>
      </p:sp>
      <p:sp>
        <p:nvSpPr>
          <p:cNvPr id="35" name="Flowchart: Off-page Connector 34">
            <a:extLst>
              <a:ext uri="{FF2B5EF4-FFF2-40B4-BE49-F238E27FC236}">
                <a16:creationId xmlns:a16="http://schemas.microsoft.com/office/drawing/2014/main" id="{B3658F62-D67A-F98D-DCB8-0A2272E8E200}"/>
              </a:ext>
            </a:extLst>
          </p:cNvPr>
          <p:cNvSpPr/>
          <p:nvPr/>
        </p:nvSpPr>
        <p:spPr>
          <a:xfrm>
            <a:off x="5822948" y="3198032"/>
            <a:ext cx="1111252" cy="366440"/>
          </a:xfrm>
          <a:prstGeom prst="flowChartOffpageConnector">
            <a:avLst/>
          </a:prstGeom>
          <a:noFill/>
          <a:ln w="38100" cmpd="sng">
            <a:solidFill>
              <a:srgbClr val="2E7D32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4750"/>
                      <a:gd name="connsiteY0" fmla="*/ 0 h 396578"/>
                      <a:gd name="connsiteX1" fmla="*/ 1174750 w 1174750"/>
                      <a:gd name="connsiteY1" fmla="*/ 0 h 396578"/>
                      <a:gd name="connsiteX2" fmla="*/ 1174750 w 1174750"/>
                      <a:gd name="connsiteY2" fmla="*/ 317262 h 396578"/>
                      <a:gd name="connsiteX3" fmla="*/ 587375 w 1174750"/>
                      <a:gd name="connsiteY3" fmla="*/ 396578 h 396578"/>
                      <a:gd name="connsiteX4" fmla="*/ 0 w 1174750"/>
                      <a:gd name="connsiteY4" fmla="*/ 317262 h 396578"/>
                      <a:gd name="connsiteX5" fmla="*/ 0 w 1174750"/>
                      <a:gd name="connsiteY5" fmla="*/ 0 h 3965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174750" h="396578" extrusionOk="0">
                        <a:moveTo>
                          <a:pt x="0" y="0"/>
                        </a:moveTo>
                        <a:cubicBezTo>
                          <a:pt x="253740" y="58418"/>
                          <a:pt x="678115" y="-24831"/>
                          <a:pt x="1174750" y="0"/>
                        </a:cubicBezTo>
                        <a:cubicBezTo>
                          <a:pt x="1154875" y="106752"/>
                          <a:pt x="1150305" y="204086"/>
                          <a:pt x="1174750" y="317262"/>
                        </a:cubicBezTo>
                        <a:cubicBezTo>
                          <a:pt x="925516" y="328228"/>
                          <a:pt x="717043" y="361365"/>
                          <a:pt x="587375" y="396578"/>
                        </a:cubicBezTo>
                        <a:cubicBezTo>
                          <a:pt x="382628" y="401461"/>
                          <a:pt x="141781" y="327592"/>
                          <a:pt x="0" y="317262"/>
                        </a:cubicBezTo>
                        <a:cubicBezTo>
                          <a:pt x="20227" y="242364"/>
                          <a:pt x="-14813" y="3705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Dapur</a:t>
            </a:r>
            <a:endParaRPr lang="en-US" sz="12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6" name="Flowchart: Off-page Connector 35">
            <a:extLst>
              <a:ext uri="{FF2B5EF4-FFF2-40B4-BE49-F238E27FC236}">
                <a16:creationId xmlns:a16="http://schemas.microsoft.com/office/drawing/2014/main" id="{12399553-4110-0E99-2BE5-A7EBFC97C88D}"/>
              </a:ext>
            </a:extLst>
          </p:cNvPr>
          <p:cNvSpPr/>
          <p:nvPr/>
        </p:nvSpPr>
        <p:spPr>
          <a:xfrm>
            <a:off x="5822948" y="3878457"/>
            <a:ext cx="1111252" cy="366440"/>
          </a:xfrm>
          <a:prstGeom prst="flowChartOffpageConnector">
            <a:avLst/>
          </a:prstGeom>
          <a:noFill/>
          <a:ln w="38100" cmpd="sng">
            <a:solidFill>
              <a:srgbClr val="1B5E2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4750"/>
                      <a:gd name="connsiteY0" fmla="*/ 0 h 396578"/>
                      <a:gd name="connsiteX1" fmla="*/ 1174750 w 1174750"/>
                      <a:gd name="connsiteY1" fmla="*/ 0 h 396578"/>
                      <a:gd name="connsiteX2" fmla="*/ 1174750 w 1174750"/>
                      <a:gd name="connsiteY2" fmla="*/ 317262 h 396578"/>
                      <a:gd name="connsiteX3" fmla="*/ 587375 w 1174750"/>
                      <a:gd name="connsiteY3" fmla="*/ 396578 h 396578"/>
                      <a:gd name="connsiteX4" fmla="*/ 0 w 1174750"/>
                      <a:gd name="connsiteY4" fmla="*/ 317262 h 396578"/>
                      <a:gd name="connsiteX5" fmla="*/ 0 w 1174750"/>
                      <a:gd name="connsiteY5" fmla="*/ 0 h 3965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174750" h="396578" extrusionOk="0">
                        <a:moveTo>
                          <a:pt x="0" y="0"/>
                        </a:moveTo>
                        <a:cubicBezTo>
                          <a:pt x="253740" y="58418"/>
                          <a:pt x="678115" y="-24831"/>
                          <a:pt x="1174750" y="0"/>
                        </a:cubicBezTo>
                        <a:cubicBezTo>
                          <a:pt x="1154875" y="106752"/>
                          <a:pt x="1150305" y="204086"/>
                          <a:pt x="1174750" y="317262"/>
                        </a:cubicBezTo>
                        <a:cubicBezTo>
                          <a:pt x="925516" y="328228"/>
                          <a:pt x="717043" y="361365"/>
                          <a:pt x="587375" y="396578"/>
                        </a:cubicBezTo>
                        <a:cubicBezTo>
                          <a:pt x="382628" y="401461"/>
                          <a:pt x="141781" y="327592"/>
                          <a:pt x="0" y="317262"/>
                        </a:cubicBezTo>
                        <a:cubicBezTo>
                          <a:pt x="20227" y="242364"/>
                          <a:pt x="-14813" y="3705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Dashboard</a:t>
            </a: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FEF40863-8ACD-0D5E-9709-6A46C7B8C2A0}"/>
              </a:ext>
            </a:extLst>
          </p:cNvPr>
          <p:cNvCxnSpPr>
            <a:stCxn id="34" idx="3"/>
            <a:endCxn id="35" idx="3"/>
          </p:cNvCxnSpPr>
          <p:nvPr/>
        </p:nvCxnSpPr>
        <p:spPr>
          <a:xfrm>
            <a:off x="6934200" y="2700827"/>
            <a:ext cx="12700" cy="680425"/>
          </a:xfrm>
          <a:prstGeom prst="curvedConnector3">
            <a:avLst>
              <a:gd name="adj1" fmla="val 1800000"/>
            </a:avLst>
          </a:prstGeom>
          <a:ln w="38100">
            <a:solidFill>
              <a:srgbClr val="CFEE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722AF5B9-F956-3727-4567-4C2FAF3D431E}"/>
              </a:ext>
            </a:extLst>
          </p:cNvPr>
          <p:cNvCxnSpPr/>
          <p:nvPr/>
        </p:nvCxnSpPr>
        <p:spPr>
          <a:xfrm>
            <a:off x="5810248" y="3334620"/>
            <a:ext cx="12700" cy="680425"/>
          </a:xfrm>
          <a:prstGeom prst="curvedConnector3">
            <a:avLst>
              <a:gd name="adj1" fmla="val -2025000"/>
            </a:avLst>
          </a:prstGeom>
          <a:ln w="38100">
            <a:solidFill>
              <a:srgbClr val="CFEE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DFEBBA4-1D9F-F8B3-CA79-A01A9905D67D}"/>
              </a:ext>
            </a:extLst>
          </p:cNvPr>
          <p:cNvSpPr txBox="1"/>
          <p:nvPr/>
        </p:nvSpPr>
        <p:spPr>
          <a:xfrm>
            <a:off x="5340432" y="4417708"/>
            <a:ext cx="20193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Poppins" panose="00000500000000000000" pitchFamily="2" charset="0"/>
                <a:cs typeface="Poppins" panose="00000500000000000000" pitchFamily="2" charset="0"/>
              </a:rPr>
              <a:t>Concept by Adithya Boss Excel</a:t>
            </a:r>
          </a:p>
        </p:txBody>
      </p:sp>
    </p:spTree>
    <p:extLst>
      <p:ext uri="{BB962C8B-B14F-4D97-AF65-F5344CB8AC3E}">
        <p14:creationId xmlns:p14="http://schemas.microsoft.com/office/powerpoint/2010/main" val="1287248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51FB4FEC-DF63-F26E-865C-DB9E6C9A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172D96-CEAB-EF2B-56BB-D104C487383E}"/>
              </a:ext>
            </a:extLst>
          </p:cNvPr>
          <p:cNvSpPr txBox="1"/>
          <p:nvPr/>
        </p:nvSpPr>
        <p:spPr>
          <a:xfrm>
            <a:off x="435935" y="956930"/>
            <a:ext cx="5805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E7D32"/>
                </a:solidFill>
                <a:latin typeface="Showcard Gothic" panose="04020904020102020604" pitchFamily="82" charset="0"/>
              </a:rPr>
              <a:t>Ready To Discover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14050-4F85-4EFE-799D-9592B85DAE36}"/>
              </a:ext>
            </a:extLst>
          </p:cNvPr>
          <p:cNvSpPr txBox="1"/>
          <p:nvPr/>
        </p:nvSpPr>
        <p:spPr>
          <a:xfrm rot="-240000">
            <a:off x="956824" y="1994764"/>
            <a:ext cx="1682030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62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C107">
                    <a:alpha val="96000"/>
                  </a:srgbClr>
                </a:solidFill>
                <a:effectLst>
                  <a:outerShdw blurRad="25400" dist="50800" dir="5400000" sx="103000" sy="103000" algn="ctr" rotWithShape="0">
                    <a:srgbClr val="000000">
                      <a:alpha val="60000"/>
                    </a:srgbClr>
                  </a:outerShdw>
                </a:effectLst>
                <a:latin typeface="Cooper Black" panose="0208090404030B020404" pitchFamily="18" charset="0"/>
                <a:cs typeface="Poppins Medium" panose="00000600000000000000" pitchFamily="2" charset="0"/>
              </a:rPr>
              <a:t>LIGHTS…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B4F73-577C-7A5D-9ACD-1CD16365DDDD}"/>
              </a:ext>
            </a:extLst>
          </p:cNvPr>
          <p:cNvSpPr txBox="1"/>
          <p:nvPr/>
        </p:nvSpPr>
        <p:spPr>
          <a:xfrm rot="21300000">
            <a:off x="1814134" y="2361061"/>
            <a:ext cx="2009665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62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C107">
                    <a:alpha val="96000"/>
                  </a:srgbClr>
                </a:solidFill>
                <a:effectLst>
                  <a:outerShdw blurRad="25400" dist="50800" dir="5400000" sx="103000" sy="103000" algn="ctr" rotWithShape="0">
                    <a:srgbClr val="000000">
                      <a:alpha val="60000"/>
                    </a:srgbClr>
                  </a:outerShdw>
                </a:effectLst>
                <a:latin typeface="Cooper Black" panose="0208090404030B020404" pitchFamily="18" charset="0"/>
                <a:cs typeface="Poppins Medium" panose="00000600000000000000" pitchFamily="2" charset="0"/>
              </a:rPr>
              <a:t>CAMERA…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E8274-73A2-9324-7013-43BE35473FDF}"/>
              </a:ext>
            </a:extLst>
          </p:cNvPr>
          <p:cNvSpPr txBox="1"/>
          <p:nvPr/>
        </p:nvSpPr>
        <p:spPr>
          <a:xfrm rot="21300000">
            <a:off x="2834613" y="2643629"/>
            <a:ext cx="2350347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62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C107">
                    <a:alpha val="96000"/>
                  </a:srgbClr>
                </a:solidFill>
                <a:effectLst>
                  <a:outerShdw blurRad="25400" dist="50800" dir="5400000" sx="103000" sy="103000" algn="ctr" rotWithShape="0">
                    <a:srgbClr val="000000">
                      <a:alpha val="60000"/>
                    </a:srgbClr>
                  </a:outerShdw>
                </a:effectLst>
                <a:latin typeface="Cooper Black" panose="0208090404030B020404" pitchFamily="18" charset="0"/>
                <a:cs typeface="Poppins Medium" panose="00000600000000000000" pitchFamily="2" charset="0"/>
              </a:rPr>
              <a:t>ACTION !!!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1FC2B9-766F-8281-9FDF-7CBB3C8AC5E5}"/>
              </a:ext>
            </a:extLst>
          </p:cNvPr>
          <p:cNvSpPr txBox="1"/>
          <p:nvPr/>
        </p:nvSpPr>
        <p:spPr>
          <a:xfrm>
            <a:off x="5524337" y="4804946"/>
            <a:ext cx="39234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1B5E20"/>
                </a:solidFill>
                <a:effectLst/>
                <a:latin typeface="Patrick Hand" panose="00000500000000000000" pitchFamily="2" charset="0"/>
                <a:cs typeface="Poppins Medium" panose="00000600000000000000" pitchFamily="2" charset="0"/>
              </a:rPr>
              <a:t>Understanding change is </a:t>
            </a:r>
            <a:r>
              <a:rPr lang="en-US" sz="1600" b="1" i="1" dirty="0">
                <a:solidFill>
                  <a:srgbClr val="1B5E20"/>
                </a:solidFill>
                <a:effectLst/>
                <a:latin typeface="Patrick Hand" panose="00000500000000000000" pitchFamily="2" charset="0"/>
                <a:cs typeface="Poppins Medium" panose="00000600000000000000" pitchFamily="2" charset="0"/>
              </a:rPr>
              <a:t>key</a:t>
            </a:r>
            <a:r>
              <a:rPr lang="en-US" b="1" i="1" dirty="0">
                <a:solidFill>
                  <a:srgbClr val="1B5E20"/>
                </a:solidFill>
                <a:effectLst/>
                <a:latin typeface="Patrick Hand" panose="00000500000000000000" pitchFamily="2" charset="0"/>
                <a:cs typeface="Poppins Medium" panose="00000600000000000000" pitchFamily="2" charset="0"/>
              </a:rPr>
              <a:t> to shaping the future</a:t>
            </a:r>
            <a:endParaRPr lang="en-US" b="1" i="1" dirty="0">
              <a:solidFill>
                <a:srgbClr val="1B5E20"/>
              </a:solidFill>
              <a:latin typeface="Patrick Hand" panose="000005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293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344D49-9EB7-0C36-3F2C-0039C494B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707" y="1369953"/>
            <a:ext cx="2104586" cy="30178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32418E-4D40-26CF-FB3A-3B71D2E1375C}"/>
              </a:ext>
            </a:extLst>
          </p:cNvPr>
          <p:cNvSpPr txBox="1"/>
          <p:nvPr/>
        </p:nvSpPr>
        <p:spPr>
          <a:xfrm>
            <a:off x="0" y="700644"/>
            <a:ext cx="85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rPr>
              <a:t>Key Financial metrics :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  <a:alpha val="70000"/>
                  </a:schemeClr>
                </a:solidFill>
                <a:latin typeface="Showcard Gothic" panose="04020904020102020604" pitchFamily="82" charset="0"/>
                <a:cs typeface="Poppins SemiBold" panose="00000700000000000000" pitchFamily="2" charset="0"/>
              </a:rPr>
              <a:t>Pre</a:t>
            </a:r>
            <a:r>
              <a:rPr lang="en-US" sz="2800" dirty="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rPr>
              <a:t>   </a:t>
            </a:r>
            <a:r>
              <a:rPr lang="en-US" sz="1600" dirty="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rPr>
              <a:t>x</a:t>
            </a:r>
            <a:r>
              <a:rPr lang="en-US" sz="2800" dirty="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rPr>
              <a:t>   </a:t>
            </a:r>
            <a:r>
              <a:rPr lang="en-US" sz="2800" dirty="0">
                <a:solidFill>
                  <a:schemeClr val="accent4">
                    <a:lumMod val="40000"/>
                    <a:lumOff val="60000"/>
                    <a:alpha val="80000"/>
                  </a:schemeClr>
                </a:solidFill>
                <a:effectLst>
                  <a:outerShdw blurRad="50800" dist="50800" dir="5400000" algn="ctr" rotWithShape="0">
                    <a:srgbClr val="000000"/>
                  </a:outerShdw>
                </a:effectLst>
                <a:latin typeface="Showcard Gothic" panose="04020904020102020604" pitchFamily="82" charset="0"/>
                <a:cs typeface="Poppins SemiBold" panose="00000700000000000000" pitchFamily="2" charset="0"/>
              </a:rPr>
              <a:t>POST</a:t>
            </a:r>
            <a:r>
              <a:rPr lang="en-US" sz="2800" dirty="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rPr>
              <a:t>  Covid-19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F2B5BC-96B2-9EE0-A39D-A055005FB99F}"/>
              </a:ext>
            </a:extLst>
          </p:cNvPr>
          <p:cNvSpPr/>
          <p:nvPr/>
        </p:nvSpPr>
        <p:spPr>
          <a:xfrm>
            <a:off x="0" y="4466107"/>
            <a:ext cx="9144000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78EE5-9F0E-4926-DB05-80BDE38CB1C6}"/>
              </a:ext>
            </a:extLst>
          </p:cNvPr>
          <p:cNvSpPr txBox="1"/>
          <p:nvPr/>
        </p:nvSpPr>
        <p:spPr>
          <a:xfrm>
            <a:off x="319489" y="4704202"/>
            <a:ext cx="737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Produksi</a:t>
            </a:r>
            <a:r>
              <a:rPr lang="en-US" sz="1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lebih</a:t>
            </a:r>
            <a:r>
              <a:rPr lang="en-US" sz="1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sedikit</a:t>
            </a:r>
            <a:r>
              <a:rPr lang="en-US" sz="1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&amp; </a:t>
            </a:r>
            <a:r>
              <a:rPr lang="en-US" sz="1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selektif</a:t>
            </a:r>
            <a:r>
              <a:rPr lang="en-US" sz="1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ROI       </a:t>
            </a:r>
            <a:r>
              <a:rPr lang="en-US" sz="1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meski</a:t>
            </a:r>
            <a:r>
              <a:rPr lang="en-US" sz="1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Revenue</a:t>
            </a:r>
          </a:p>
        </p:txBody>
      </p:sp>
      <p:pic>
        <p:nvPicPr>
          <p:cNvPr id="15" name="Graphic 14" descr="Arrow: Clockwise curve with solid fill">
            <a:extLst>
              <a:ext uri="{FF2B5EF4-FFF2-40B4-BE49-F238E27FC236}">
                <a16:creationId xmlns:a16="http://schemas.microsoft.com/office/drawing/2014/main" id="{6FBCA673-81E0-2F86-1987-06EC61BE0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9808" y="4704202"/>
            <a:ext cx="369332" cy="369332"/>
          </a:xfrm>
          <a:prstGeom prst="rect">
            <a:avLst/>
          </a:prstGeom>
        </p:spPr>
      </p:pic>
      <p:pic>
        <p:nvPicPr>
          <p:cNvPr id="16" name="Graphic 15" descr="Arrow: Clockwise curve with solid fill">
            <a:extLst>
              <a:ext uri="{FF2B5EF4-FFF2-40B4-BE49-F238E27FC236}">
                <a16:creationId xmlns:a16="http://schemas.microsoft.com/office/drawing/2014/main" id="{9BC92663-A6C1-0D08-196E-0561E1B061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6589293" y="4692170"/>
            <a:ext cx="369332" cy="369332"/>
          </a:xfrm>
          <a:prstGeom prst="rect">
            <a:avLst/>
          </a:prstGeom>
        </p:spPr>
      </p:pic>
      <p:sp>
        <p:nvSpPr>
          <p:cNvPr id="17" name="Callout: Line 16">
            <a:extLst>
              <a:ext uri="{FF2B5EF4-FFF2-40B4-BE49-F238E27FC236}">
                <a16:creationId xmlns:a16="http://schemas.microsoft.com/office/drawing/2014/main" id="{888FA71A-68D3-1081-B13A-3026682AB125}"/>
              </a:ext>
            </a:extLst>
          </p:cNvPr>
          <p:cNvSpPr/>
          <p:nvPr/>
        </p:nvSpPr>
        <p:spPr>
          <a:xfrm rot="10800000">
            <a:off x="505327" y="1838843"/>
            <a:ext cx="2645047" cy="1115982"/>
          </a:xfrm>
          <a:prstGeom prst="borderCallout1">
            <a:avLst>
              <a:gd name="adj1" fmla="val 67180"/>
              <a:gd name="adj2" fmla="val -419"/>
              <a:gd name="adj3" fmla="val 85872"/>
              <a:gd name="adj4" fmla="val -17409"/>
            </a:avLst>
          </a:prstGeom>
          <a:noFill/>
          <a:ln w="38100">
            <a:solidFill>
              <a:srgbClr val="1B5E20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allout: Line 17">
            <a:extLst>
              <a:ext uri="{FF2B5EF4-FFF2-40B4-BE49-F238E27FC236}">
                <a16:creationId xmlns:a16="http://schemas.microsoft.com/office/drawing/2014/main" id="{A966FC88-5F78-53EA-684B-2E7B830DA1FF}"/>
              </a:ext>
            </a:extLst>
          </p:cNvPr>
          <p:cNvSpPr/>
          <p:nvPr/>
        </p:nvSpPr>
        <p:spPr>
          <a:xfrm rot="10800000">
            <a:off x="505328" y="3185372"/>
            <a:ext cx="2645046" cy="1115981"/>
          </a:xfrm>
          <a:prstGeom prst="borderCallout1">
            <a:avLst>
              <a:gd name="adj1" fmla="val 67180"/>
              <a:gd name="adj2" fmla="val -419"/>
              <a:gd name="adj3" fmla="val 94878"/>
              <a:gd name="adj4" fmla="val -18247"/>
            </a:avLst>
          </a:prstGeom>
          <a:noFill/>
          <a:ln w="38100">
            <a:solidFill>
              <a:srgbClr val="1B5E20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allout: Line 18">
            <a:extLst>
              <a:ext uri="{FF2B5EF4-FFF2-40B4-BE49-F238E27FC236}">
                <a16:creationId xmlns:a16="http://schemas.microsoft.com/office/drawing/2014/main" id="{5CD89736-4781-8616-BCE8-A80C225CCBC0}"/>
              </a:ext>
            </a:extLst>
          </p:cNvPr>
          <p:cNvSpPr/>
          <p:nvPr/>
        </p:nvSpPr>
        <p:spPr>
          <a:xfrm>
            <a:off x="6148137" y="1811287"/>
            <a:ext cx="2681863" cy="1152601"/>
          </a:xfrm>
          <a:prstGeom prst="borderCallout1">
            <a:avLst>
              <a:gd name="adj1" fmla="val 12899"/>
              <a:gd name="adj2" fmla="val 478"/>
              <a:gd name="adj3" fmla="val 66766"/>
              <a:gd name="adj4" fmla="val -23526"/>
            </a:avLst>
          </a:prstGeom>
          <a:noFill/>
          <a:ln w="38100">
            <a:solidFill>
              <a:srgbClr val="1B5E20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Graphic 19" descr="Arrow: Clockwise curve with solid fill">
            <a:extLst>
              <a:ext uri="{FF2B5EF4-FFF2-40B4-BE49-F238E27FC236}">
                <a16:creationId xmlns:a16="http://schemas.microsoft.com/office/drawing/2014/main" id="{7B87450E-80B0-B864-4E2E-8420DD9C64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1496688" y="1967201"/>
            <a:ext cx="369332" cy="3693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F24301E-4EF1-8E0E-5441-61DCF25A2404}"/>
              </a:ext>
            </a:extLst>
          </p:cNvPr>
          <p:cNvSpPr txBox="1"/>
          <p:nvPr/>
        </p:nvSpPr>
        <p:spPr>
          <a:xfrm>
            <a:off x="1812323" y="1891030"/>
            <a:ext cx="95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atrick Hand" panose="00000500000000000000" pitchFamily="2" charset="0"/>
              </a:rPr>
              <a:t>46 %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CA3A388-65A1-1503-4606-F7A378DEE1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195" y="1884479"/>
            <a:ext cx="476254" cy="4762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BF2A1F3-9429-D797-CA51-68F215A5D941}"/>
              </a:ext>
            </a:extLst>
          </p:cNvPr>
          <p:cNvSpPr txBox="1"/>
          <p:nvPr/>
        </p:nvSpPr>
        <p:spPr>
          <a:xfrm>
            <a:off x="489799" y="2427369"/>
            <a:ext cx="2681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latin typeface="Patrick Hand" panose="00000500000000000000" pitchFamily="2" charset="0"/>
              </a:rPr>
              <a:t>Rata-rata </a:t>
            </a:r>
            <a:r>
              <a:rPr lang="en-US" sz="1200" b="1" dirty="0">
                <a:latin typeface="Patrick Hand" panose="00000500000000000000" pitchFamily="2" charset="0"/>
              </a:rPr>
              <a:t>Budget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produksi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b="1" dirty="0" err="1">
                <a:latin typeface="Patrick Hand" panose="00000500000000000000" pitchFamily="2" charset="0"/>
              </a:rPr>
              <a:t>anjlok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dari</a:t>
            </a:r>
            <a:r>
              <a:rPr lang="en-US" sz="1200" dirty="0">
                <a:latin typeface="Patrick Hand" panose="00000500000000000000" pitchFamily="2" charset="0"/>
              </a:rPr>
              <a:t> $ 8.9 </a:t>
            </a:r>
            <a:r>
              <a:rPr lang="en-US" sz="1200" dirty="0" err="1">
                <a:latin typeface="Patrick Hand" panose="00000500000000000000" pitchFamily="2" charset="0"/>
              </a:rPr>
              <a:t>Milyar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ke</a:t>
            </a:r>
            <a:r>
              <a:rPr lang="en-US" sz="1200" dirty="0">
                <a:latin typeface="Patrick Hand" panose="00000500000000000000" pitchFamily="2" charset="0"/>
              </a:rPr>
              <a:t> $ 4.8 </a:t>
            </a:r>
            <a:r>
              <a:rPr lang="en-US" sz="1200" dirty="0" err="1">
                <a:latin typeface="Patrick Hand" panose="00000500000000000000" pitchFamily="2" charset="0"/>
              </a:rPr>
              <a:t>Milyar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b="1" dirty="0" err="1">
                <a:latin typeface="Patrick Hand" panose="00000500000000000000" pitchFamily="2" charset="0"/>
              </a:rPr>
              <a:t>pasca</a:t>
            </a:r>
            <a:r>
              <a:rPr lang="en-US" sz="1200" b="1" dirty="0">
                <a:latin typeface="Patrick Hand" panose="00000500000000000000" pitchFamily="2" charset="0"/>
              </a:rPr>
              <a:t> </a:t>
            </a:r>
            <a:r>
              <a:rPr lang="en-US" sz="1200" b="1" dirty="0" err="1">
                <a:latin typeface="Patrick Hand" panose="00000500000000000000" pitchFamily="2" charset="0"/>
              </a:rPr>
              <a:t>pandemi</a:t>
            </a:r>
            <a:endParaRPr lang="en-US" sz="1200" b="1" dirty="0">
              <a:latin typeface="Patrick Hand" panose="00000500000000000000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B2D5B7-BEEE-C532-0E84-9DFD391E3F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6141" y="1892017"/>
            <a:ext cx="475200" cy="475200"/>
          </a:xfrm>
          <a:prstGeom prst="rect">
            <a:avLst/>
          </a:prstGeom>
        </p:spPr>
      </p:pic>
      <p:pic>
        <p:nvPicPr>
          <p:cNvPr id="27" name="Graphic 26" descr="Arrow: Clockwise curve with solid fill">
            <a:extLst>
              <a:ext uri="{FF2B5EF4-FFF2-40B4-BE49-F238E27FC236}">
                <a16:creationId xmlns:a16="http://schemas.microsoft.com/office/drawing/2014/main" id="{089362C4-768B-2C70-873F-B060280883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7181341" y="1967201"/>
            <a:ext cx="369332" cy="36933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36FDCFB-6A95-E3EE-A3BF-48FC86E53BDE}"/>
              </a:ext>
            </a:extLst>
          </p:cNvPr>
          <p:cNvSpPr txBox="1"/>
          <p:nvPr/>
        </p:nvSpPr>
        <p:spPr>
          <a:xfrm>
            <a:off x="7522346" y="1864461"/>
            <a:ext cx="95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atrick Hand" panose="00000500000000000000" pitchFamily="2" charset="0"/>
              </a:rPr>
              <a:t>64 %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D8D976-7497-FC5F-F763-02BD62064A32}"/>
              </a:ext>
            </a:extLst>
          </p:cNvPr>
          <p:cNvSpPr txBox="1"/>
          <p:nvPr/>
        </p:nvSpPr>
        <p:spPr>
          <a:xfrm>
            <a:off x="6148137" y="2426168"/>
            <a:ext cx="2681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atrick Hand" panose="00000500000000000000" pitchFamily="2" charset="0"/>
              </a:rPr>
              <a:t>Profit </a:t>
            </a:r>
            <a:r>
              <a:rPr lang="en-US" sz="1200" dirty="0" err="1">
                <a:latin typeface="Patrick Hand" panose="00000500000000000000" pitchFamily="2" charset="0"/>
              </a:rPr>
              <a:t>tahunan</a:t>
            </a:r>
            <a:r>
              <a:rPr lang="en-US" sz="1200" b="1" dirty="0">
                <a:latin typeface="Patrick Hand" panose="00000500000000000000" pitchFamily="2" charset="0"/>
              </a:rPr>
              <a:t> </a:t>
            </a:r>
            <a:r>
              <a:rPr lang="en-US" sz="1200" b="1" dirty="0" err="1">
                <a:latin typeface="Patrick Hand" panose="00000500000000000000" pitchFamily="2" charset="0"/>
              </a:rPr>
              <a:t>kehilangan</a:t>
            </a:r>
            <a:r>
              <a:rPr lang="en-US" sz="1200" b="1" dirty="0">
                <a:latin typeface="Patrick Hand" panose="00000500000000000000" pitchFamily="2" charset="0"/>
              </a:rPr>
              <a:t> </a:t>
            </a:r>
            <a:r>
              <a:rPr lang="en-US" sz="1200" b="1" dirty="0" err="1">
                <a:latin typeface="Patrick Hand" panose="00000500000000000000" pitchFamily="2" charset="0"/>
              </a:rPr>
              <a:t>lebih</a:t>
            </a:r>
            <a:r>
              <a:rPr lang="en-US" sz="1200" b="1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dari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b="1" dirty="0" err="1">
                <a:latin typeface="Patrick Hand" panose="00000500000000000000" pitchFamily="2" charset="0"/>
              </a:rPr>
              <a:t>setengah</a:t>
            </a:r>
            <a:r>
              <a:rPr lang="en-US" sz="1200" b="1" dirty="0">
                <a:latin typeface="Patrick Hand" panose="00000500000000000000" pitchFamily="2" charset="0"/>
              </a:rPr>
              <a:t> </a:t>
            </a:r>
            <a:r>
              <a:rPr lang="en-US" sz="1200" b="1" dirty="0" err="1">
                <a:latin typeface="Patrick Hand" panose="00000500000000000000" pitchFamily="2" charset="0"/>
              </a:rPr>
              <a:t>nilainya</a:t>
            </a:r>
            <a:r>
              <a:rPr lang="en-US" sz="1200" b="1" dirty="0">
                <a:latin typeface="Patrick Hand" panose="00000500000000000000" pitchFamily="2" charset="0"/>
              </a:rPr>
              <a:t>, </a:t>
            </a:r>
            <a:r>
              <a:rPr lang="en-US" sz="1200" dirty="0" err="1">
                <a:latin typeface="Patrick Hand" panose="00000500000000000000" pitchFamily="2" charset="0"/>
              </a:rPr>
              <a:t>turun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ke</a:t>
            </a:r>
            <a:r>
              <a:rPr lang="en-US" sz="1200" dirty="0">
                <a:latin typeface="Patrick Hand" panose="00000500000000000000" pitchFamily="2" charset="0"/>
              </a:rPr>
              <a:t> $ 7,1 </a:t>
            </a:r>
            <a:r>
              <a:rPr lang="en-US" sz="1200" dirty="0" err="1">
                <a:latin typeface="Patrick Hand" panose="00000500000000000000" pitchFamily="2" charset="0"/>
              </a:rPr>
              <a:t>Milyar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endParaRPr lang="en-US" sz="1200" b="1" dirty="0">
              <a:latin typeface="Patrick Hand" panose="00000500000000000000" pitchFamily="2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3EF4F1E-08AE-A4AB-9D8B-520705AC7E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195" y="3268162"/>
            <a:ext cx="475200" cy="475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E7608C0-7C14-C50B-9007-08BB4B39DEB8}"/>
              </a:ext>
            </a:extLst>
          </p:cNvPr>
          <p:cNvSpPr txBox="1"/>
          <p:nvPr/>
        </p:nvSpPr>
        <p:spPr>
          <a:xfrm>
            <a:off x="1476395" y="3271850"/>
            <a:ext cx="1134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atrick Hand" panose="00000500000000000000" pitchFamily="2" charset="0"/>
              </a:rPr>
              <a:t>% ROI</a:t>
            </a:r>
          </a:p>
        </p:txBody>
      </p:sp>
      <p:pic>
        <p:nvPicPr>
          <p:cNvPr id="33" name="Graphic 32" descr="Arrow: Clockwise curve with solid fill">
            <a:extLst>
              <a:ext uri="{FF2B5EF4-FFF2-40B4-BE49-F238E27FC236}">
                <a16:creationId xmlns:a16="http://schemas.microsoft.com/office/drawing/2014/main" id="{2BC1FE7E-0D27-CDCF-9F00-FCFB0563A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7462" y="3385139"/>
            <a:ext cx="369332" cy="36933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7D9D5ED-C924-394E-9726-B7BF56E74ACB}"/>
              </a:ext>
            </a:extLst>
          </p:cNvPr>
          <p:cNvSpPr txBox="1"/>
          <p:nvPr/>
        </p:nvSpPr>
        <p:spPr>
          <a:xfrm>
            <a:off x="471391" y="3831220"/>
            <a:ext cx="2681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>
                <a:latin typeface="Patrick Hand" panose="00000500000000000000" pitchFamily="2" charset="0"/>
              </a:rPr>
              <a:t>Kenaikan</a:t>
            </a:r>
            <a:r>
              <a:rPr lang="en-US" sz="1200" dirty="0">
                <a:latin typeface="Patrick Hand" panose="00000500000000000000" pitchFamily="2" charset="0"/>
              </a:rPr>
              <a:t> ROI </a:t>
            </a:r>
            <a:r>
              <a:rPr lang="en-US" sz="1200" dirty="0" err="1">
                <a:latin typeface="Patrick Hand" panose="00000500000000000000" pitchFamily="2" charset="0"/>
              </a:rPr>
              <a:t>tahunan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ke</a:t>
            </a:r>
            <a:r>
              <a:rPr lang="en-US" sz="1200" dirty="0">
                <a:latin typeface="Patrick Hand" panose="00000500000000000000" pitchFamily="2" charset="0"/>
              </a:rPr>
              <a:t> 238% </a:t>
            </a:r>
            <a:r>
              <a:rPr lang="en-US" sz="1200" dirty="0" err="1">
                <a:latin typeface="Patrick Hand" panose="00000500000000000000" pitchFamily="2" charset="0"/>
              </a:rPr>
              <a:t>mencermikan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industri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lebih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bijak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memilih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proyek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bernilai</a:t>
            </a:r>
            <a:endParaRPr lang="en-US" sz="1200" b="1" dirty="0">
              <a:latin typeface="Patrick Hand" panose="00000500000000000000" pitchFamily="2" charset="0"/>
            </a:endParaRPr>
          </a:p>
        </p:txBody>
      </p:sp>
      <p:sp>
        <p:nvSpPr>
          <p:cNvPr id="35" name="Callout: Line 34">
            <a:extLst>
              <a:ext uri="{FF2B5EF4-FFF2-40B4-BE49-F238E27FC236}">
                <a16:creationId xmlns:a16="http://schemas.microsoft.com/office/drawing/2014/main" id="{16B62705-279F-E645-66E1-B452F1C1BF4E}"/>
              </a:ext>
            </a:extLst>
          </p:cNvPr>
          <p:cNvSpPr/>
          <p:nvPr/>
        </p:nvSpPr>
        <p:spPr>
          <a:xfrm>
            <a:off x="6148137" y="3155670"/>
            <a:ext cx="2681863" cy="1152601"/>
          </a:xfrm>
          <a:prstGeom prst="borderCallout1">
            <a:avLst>
              <a:gd name="adj1" fmla="val 12899"/>
              <a:gd name="adj2" fmla="val 478"/>
              <a:gd name="adj3" fmla="val 55283"/>
              <a:gd name="adj4" fmla="val -24423"/>
            </a:avLst>
          </a:prstGeom>
          <a:noFill/>
          <a:ln w="38100">
            <a:solidFill>
              <a:srgbClr val="1B5E20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Graphic 36" descr="Arrow: Clockwise curve with solid fill">
            <a:extLst>
              <a:ext uri="{FF2B5EF4-FFF2-40B4-BE49-F238E27FC236}">
                <a16:creationId xmlns:a16="http://schemas.microsoft.com/office/drawing/2014/main" id="{55E3E873-7D30-F5C5-4921-E3A736F948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7181341" y="3311584"/>
            <a:ext cx="369332" cy="36933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2FE9230-5D09-3830-D3E2-8C1D1B29075B}"/>
              </a:ext>
            </a:extLst>
          </p:cNvPr>
          <p:cNvSpPr txBox="1"/>
          <p:nvPr/>
        </p:nvSpPr>
        <p:spPr>
          <a:xfrm>
            <a:off x="7522346" y="3208844"/>
            <a:ext cx="1116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atrick Hand" panose="00000500000000000000" pitchFamily="2" charset="0"/>
              </a:rPr>
              <a:t>&gt;50 %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DAB00B-63E3-0C4F-1DA5-24F786479EEA}"/>
              </a:ext>
            </a:extLst>
          </p:cNvPr>
          <p:cNvSpPr txBox="1"/>
          <p:nvPr/>
        </p:nvSpPr>
        <p:spPr>
          <a:xfrm>
            <a:off x="6136105" y="3770551"/>
            <a:ext cx="276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Patrick Hand" panose="00000500000000000000" pitchFamily="2" charset="0"/>
              </a:rPr>
              <a:t>Produksi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dikurangi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drastis</a:t>
            </a:r>
            <a:r>
              <a:rPr lang="en-US" sz="1200" dirty="0">
                <a:latin typeface="Patrick Hand" panose="00000500000000000000" pitchFamily="2" charset="0"/>
              </a:rPr>
              <a:t>, </a:t>
            </a:r>
            <a:r>
              <a:rPr lang="en-US" sz="1200" dirty="0" err="1">
                <a:latin typeface="Patrick Hand" panose="00000500000000000000" pitchFamily="2" charset="0"/>
              </a:rPr>
              <a:t>hanya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sekitar</a:t>
            </a:r>
            <a:r>
              <a:rPr lang="en-US" sz="1200" dirty="0">
                <a:latin typeface="Patrick Hand" panose="00000500000000000000" pitchFamily="2" charset="0"/>
              </a:rPr>
              <a:t> 104 film per </a:t>
            </a:r>
            <a:r>
              <a:rPr lang="en-US" sz="1200" dirty="0" err="1">
                <a:latin typeface="Patrick Hand" panose="00000500000000000000" pitchFamily="2" charset="0"/>
              </a:rPr>
              <a:t>tahun</a:t>
            </a:r>
            <a:r>
              <a:rPr lang="en-US" sz="1200" dirty="0">
                <a:latin typeface="Patrick Hand" panose="00000500000000000000" pitchFamily="2" charset="0"/>
              </a:rPr>
              <a:t> yang </a:t>
            </a:r>
            <a:r>
              <a:rPr lang="en-US" sz="1200" dirty="0" err="1">
                <a:latin typeface="Patrick Hand" panose="00000500000000000000" pitchFamily="2" charset="0"/>
              </a:rPr>
              <a:t>bisa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tayang</a:t>
            </a:r>
            <a:r>
              <a:rPr lang="en-US" sz="1200" dirty="0">
                <a:latin typeface="Patrick Hand" panose="00000500000000000000" pitchFamily="2" charset="0"/>
              </a:rPr>
              <a:t> di </a:t>
            </a:r>
            <a:r>
              <a:rPr lang="en-US" sz="1200" dirty="0" err="1">
                <a:latin typeface="Patrick Hand" panose="00000500000000000000" pitchFamily="2" charset="0"/>
              </a:rPr>
              <a:t>layar</a:t>
            </a:r>
            <a:r>
              <a:rPr lang="en-US" sz="1200" dirty="0">
                <a:latin typeface="Patrick Hand" panose="00000500000000000000" pitchFamily="2" charset="0"/>
              </a:rPr>
              <a:t> </a:t>
            </a:r>
            <a:r>
              <a:rPr lang="en-US" sz="1200" dirty="0" err="1">
                <a:latin typeface="Patrick Hand" panose="00000500000000000000" pitchFamily="2" charset="0"/>
              </a:rPr>
              <a:t>lebar</a:t>
            </a:r>
            <a:endParaRPr lang="en-US" sz="1200" dirty="0">
              <a:latin typeface="Patrick Hand" panose="00000500000000000000" pitchFamily="2" charset="0"/>
            </a:endParaRPr>
          </a:p>
        </p:txBody>
      </p:sp>
      <p:pic>
        <p:nvPicPr>
          <p:cNvPr id="41" name="Graphic 40" descr="Clapper board with solid fill">
            <a:extLst>
              <a:ext uri="{FF2B5EF4-FFF2-40B4-BE49-F238E27FC236}">
                <a16:creationId xmlns:a16="http://schemas.microsoft.com/office/drawing/2014/main" id="{07E38B1D-AC26-B84D-44C1-B9343DD9CB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21025" y="3268162"/>
            <a:ext cx="475200" cy="4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3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990EFDFA-E897-AEEC-91B0-4487ED62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AA2539C-9F3F-91BD-6508-178E15DFF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470" y="1668580"/>
            <a:ext cx="4725059" cy="2362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161591-E55F-67E3-14C8-E1F32C1AE43A}"/>
              </a:ext>
            </a:extLst>
          </p:cNvPr>
          <p:cNvSpPr txBox="1"/>
          <p:nvPr/>
        </p:nvSpPr>
        <p:spPr>
          <a:xfrm>
            <a:off x="203668" y="742150"/>
            <a:ext cx="853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rPr>
              <a:t>A Dramatic shift in Global film production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55E187-D45F-EC4E-DDD3-D75EDE722A4D}"/>
              </a:ext>
            </a:extLst>
          </p:cNvPr>
          <p:cNvSpPr/>
          <p:nvPr/>
        </p:nvSpPr>
        <p:spPr>
          <a:xfrm>
            <a:off x="0" y="4466107"/>
            <a:ext cx="9144000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02FF10-03BD-4EC9-AA53-B583A874BA27}"/>
              </a:ext>
            </a:extLst>
          </p:cNvPr>
          <p:cNvSpPr txBox="1"/>
          <p:nvPr/>
        </p:nvSpPr>
        <p:spPr>
          <a:xfrm>
            <a:off x="0" y="4530962"/>
            <a:ext cx="914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Industri film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belum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sepenuhnya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pulih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meskipun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pandemi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sudah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tidak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ada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dan Covid-19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sudah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jauh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mereda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jumlah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film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setelah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pandemi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masih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dibawah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dari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sebelum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pandemi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 Walaupun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sedikit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rebound pada 2021.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Penurunan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ini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mengindikasikan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pergeseran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strategi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menuju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produksi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yang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lebih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selektif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dan </a:t>
            </a:r>
            <a:r>
              <a:rPr lang="en-US" sz="11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efisien</a:t>
            </a:r>
            <a:r>
              <a:rPr lang="en-US" sz="1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6764AF-010E-BFE5-C43E-B1C69475D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740" y="1719131"/>
            <a:ext cx="288913" cy="28891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7417F1-3DA1-67ED-905B-6E2C2B53DDB1}"/>
              </a:ext>
            </a:extLst>
          </p:cNvPr>
          <p:cNvCxnSpPr>
            <a:cxnSpLocks/>
          </p:cNvCxnSpPr>
          <p:nvPr/>
        </p:nvCxnSpPr>
        <p:spPr>
          <a:xfrm>
            <a:off x="4257675" y="1979047"/>
            <a:ext cx="0" cy="18012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6A7C0EC-1371-6534-7875-275468D9AC29}"/>
              </a:ext>
            </a:extLst>
          </p:cNvPr>
          <p:cNvSpPr txBox="1"/>
          <p:nvPr/>
        </p:nvSpPr>
        <p:spPr>
          <a:xfrm>
            <a:off x="203668" y="1863588"/>
            <a:ext cx="1630018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 err="1">
                <a:latin typeface="Patrick Hand" panose="00000500000000000000" pitchFamily="2" charset="0"/>
              </a:rPr>
              <a:t>Selama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satu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dekade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sebelum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pandemi</a:t>
            </a:r>
            <a:r>
              <a:rPr lang="en-US" sz="1300" dirty="0">
                <a:latin typeface="Patrick Hand" panose="00000500000000000000" pitchFamily="2" charset="0"/>
              </a:rPr>
              <a:t>, </a:t>
            </a:r>
            <a:r>
              <a:rPr lang="en-US" sz="1300" dirty="0" err="1">
                <a:latin typeface="Patrick Hand" panose="00000500000000000000" pitchFamily="2" charset="0"/>
              </a:rPr>
              <a:t>Tahun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b="1" dirty="0">
                <a:latin typeface="Patrick Hand" panose="00000500000000000000" pitchFamily="2" charset="0"/>
              </a:rPr>
              <a:t>2016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adalah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tahun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b="1" dirty="0">
                <a:latin typeface="Patrick Hand" panose="00000500000000000000" pitchFamily="2" charset="0"/>
              </a:rPr>
              <a:t>paling </a:t>
            </a:r>
            <a:r>
              <a:rPr lang="en-US" sz="1300" b="1" dirty="0" err="1">
                <a:latin typeface="Patrick Hand" panose="00000500000000000000" pitchFamily="2" charset="0"/>
              </a:rPr>
              <a:t>produktif</a:t>
            </a:r>
            <a:r>
              <a:rPr lang="en-US" sz="1300" b="1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dalam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pembuatan</a:t>
            </a:r>
            <a:r>
              <a:rPr lang="en-US" sz="1300" dirty="0">
                <a:latin typeface="Patrick Hand" panose="00000500000000000000" pitchFamily="2" charset="0"/>
              </a:rPr>
              <a:t> film, </a:t>
            </a:r>
            <a:r>
              <a:rPr lang="en-US" sz="1300" dirty="0" err="1">
                <a:latin typeface="Patrick Hand" panose="00000500000000000000" pitchFamily="2" charset="0"/>
              </a:rPr>
              <a:t>sebesar</a:t>
            </a:r>
            <a:r>
              <a:rPr lang="en-US" sz="1300" dirty="0">
                <a:latin typeface="Patrick Hand" panose="00000500000000000000" pitchFamily="2" charset="0"/>
              </a:rPr>
              <a:t> 329 film yang </a:t>
            </a:r>
            <a:r>
              <a:rPr lang="en-US" sz="1300" dirty="0" err="1">
                <a:latin typeface="Patrick Hand" panose="00000500000000000000" pitchFamily="2" charset="0"/>
              </a:rPr>
              <a:t>terproduksi</a:t>
            </a:r>
            <a:endParaRPr lang="en-US" sz="1300" dirty="0">
              <a:latin typeface="Patrick Hand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B9DF52-CBD9-BF55-418E-88A5F9C2DE57}"/>
              </a:ext>
            </a:extLst>
          </p:cNvPr>
          <p:cNvSpPr txBox="1"/>
          <p:nvPr/>
        </p:nvSpPr>
        <p:spPr>
          <a:xfrm>
            <a:off x="7224007" y="1825392"/>
            <a:ext cx="163001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err="1">
                <a:latin typeface="Patrick Hand" panose="00000500000000000000" pitchFamily="2" charset="0"/>
              </a:rPr>
              <a:t>Karea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munculnya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pandemi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sehingga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menghambat</a:t>
            </a:r>
            <a:r>
              <a:rPr lang="en-US" sz="1300" dirty="0">
                <a:latin typeface="Patrick Hand" panose="00000500000000000000" pitchFamily="2" charset="0"/>
              </a:rPr>
              <a:t> proses </a:t>
            </a:r>
            <a:r>
              <a:rPr lang="en-US" sz="1300" dirty="0" err="1">
                <a:latin typeface="Patrick Hand" panose="00000500000000000000" pitchFamily="2" charset="0"/>
              </a:rPr>
              <a:t>produksi</a:t>
            </a:r>
            <a:r>
              <a:rPr lang="en-US" sz="1300" dirty="0">
                <a:latin typeface="Patrick Hand" panose="00000500000000000000" pitchFamily="2" charset="0"/>
              </a:rPr>
              <a:t> film, </a:t>
            </a:r>
            <a:r>
              <a:rPr lang="en-US" sz="1300" dirty="0" err="1">
                <a:latin typeface="Patrick Hand" panose="00000500000000000000" pitchFamily="2" charset="0"/>
              </a:rPr>
              <a:t>membuat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b="1" dirty="0" err="1">
                <a:latin typeface="Patrick Hand" panose="00000500000000000000" pitchFamily="2" charset="0"/>
              </a:rPr>
              <a:t>penurunan</a:t>
            </a:r>
            <a:r>
              <a:rPr lang="en-US" sz="1300" b="1" dirty="0">
                <a:latin typeface="Patrick Hand" panose="00000500000000000000" pitchFamily="2" charset="0"/>
              </a:rPr>
              <a:t> </a:t>
            </a:r>
            <a:r>
              <a:rPr lang="en-US" sz="1300" b="1" dirty="0" err="1">
                <a:latin typeface="Patrick Hand" panose="00000500000000000000" pitchFamily="2" charset="0"/>
              </a:rPr>
              <a:t>drastis</a:t>
            </a:r>
            <a:r>
              <a:rPr lang="en-US" sz="1300" b="1" dirty="0">
                <a:latin typeface="Patrick Hand" panose="00000500000000000000" pitchFamily="2" charset="0"/>
              </a:rPr>
              <a:t> total film </a:t>
            </a:r>
            <a:r>
              <a:rPr lang="en-US" sz="1300" dirty="0" err="1">
                <a:latin typeface="Patrick Hand" panose="00000500000000000000" pitchFamily="2" charset="0"/>
              </a:rPr>
              <a:t>dari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tahun</a:t>
            </a:r>
            <a:r>
              <a:rPr lang="en-US" sz="1300" dirty="0">
                <a:latin typeface="Patrick Hand" panose="00000500000000000000" pitchFamily="2" charset="0"/>
              </a:rPr>
              <a:t> 2019 </a:t>
            </a:r>
            <a:r>
              <a:rPr lang="en-US" sz="1300" dirty="0" err="1">
                <a:latin typeface="Patrick Hand" panose="00000500000000000000" pitchFamily="2" charset="0"/>
              </a:rPr>
              <a:t>sebesar</a:t>
            </a:r>
            <a:r>
              <a:rPr lang="en-US" sz="1300" dirty="0">
                <a:latin typeface="Patrick Hand" panose="00000500000000000000" pitchFamily="2" charset="0"/>
              </a:rPr>
              <a:t> 231 </a:t>
            </a:r>
            <a:r>
              <a:rPr lang="en-US" sz="1300" dirty="0" err="1">
                <a:latin typeface="Patrick Hand" panose="00000500000000000000" pitchFamily="2" charset="0"/>
              </a:rPr>
              <a:t>menjadi</a:t>
            </a:r>
            <a:r>
              <a:rPr lang="en-US" sz="1300" dirty="0">
                <a:latin typeface="Patrick Hand" panose="00000500000000000000" pitchFamily="2" charset="0"/>
              </a:rPr>
              <a:t> 111 di </a:t>
            </a:r>
            <a:r>
              <a:rPr lang="en-US" sz="1300" dirty="0" err="1">
                <a:latin typeface="Patrick Hand" panose="00000500000000000000" pitchFamily="2" charset="0"/>
              </a:rPr>
              <a:t>tahun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berikutnya</a:t>
            </a:r>
            <a:r>
              <a:rPr lang="en-US" sz="1300" dirty="0">
                <a:latin typeface="Patrick Hand" panose="00000500000000000000" pitchFamily="2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1390622-3739-B1A7-4103-E5A1A217D8ED}"/>
              </a:ext>
            </a:extLst>
          </p:cNvPr>
          <p:cNvSpPr/>
          <p:nvPr/>
        </p:nvSpPr>
        <p:spPr>
          <a:xfrm>
            <a:off x="5027696" y="1447139"/>
            <a:ext cx="1906833" cy="221441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atrick Hand" panose="00000500000000000000" pitchFamily="2" charset="0"/>
              </a:rPr>
              <a:t>Total film per </a:t>
            </a:r>
            <a:r>
              <a:rPr lang="en-US" dirty="0" err="1">
                <a:latin typeface="Patrick Hand" panose="00000500000000000000" pitchFamily="2" charset="0"/>
              </a:rPr>
              <a:t>tahun</a:t>
            </a:r>
            <a:endParaRPr lang="en-US" dirty="0">
              <a:latin typeface="Patrick Han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24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64CA757F-D68E-8F38-5EE9-C0CF62EDC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BBF8CB-07FA-A57C-428D-6B0C1019F4EE}"/>
              </a:ext>
            </a:extLst>
          </p:cNvPr>
          <p:cNvSpPr txBox="1"/>
          <p:nvPr/>
        </p:nvSpPr>
        <p:spPr>
          <a:xfrm>
            <a:off x="203668" y="742150"/>
            <a:ext cx="8538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rPr>
              <a:t>A shattered box office : Covid’s billion dollar impact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C47ABE-6438-3788-8170-23CD93856E1D}"/>
              </a:ext>
            </a:extLst>
          </p:cNvPr>
          <p:cNvSpPr/>
          <p:nvPr/>
        </p:nvSpPr>
        <p:spPr>
          <a:xfrm>
            <a:off x="0" y="4466107"/>
            <a:ext cx="9144000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02B52-FEB1-1D01-5B17-208BA404F445}"/>
              </a:ext>
            </a:extLst>
          </p:cNvPr>
          <p:cNvSpPr txBox="1"/>
          <p:nvPr/>
        </p:nvSpPr>
        <p:spPr>
          <a:xfrm>
            <a:off x="0" y="4540487"/>
            <a:ext cx="91440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Dari $29.3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Milyar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ke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$5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Milyar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bukan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hanya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angka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 Ini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adalah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cerita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tentang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gangguan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mendadak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akibat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Covid-19,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perubahan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pola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konsumsi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konsumen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terhadap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industri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layar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lebar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 Di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balik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kejatuhan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pendapatan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ada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Upaya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merancang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masa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depan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yang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lebih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adaptif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Pertanyaannya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bukan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hanya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bagaimana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bangkit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tapi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bagaimana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tumbuh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lebih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cerdas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di era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baru</a:t>
            </a:r>
            <a:endParaRPr lang="en-US" sz="105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269246-4A7A-948B-62AA-AA1C34C49669}"/>
              </a:ext>
            </a:extLst>
          </p:cNvPr>
          <p:cNvSpPr txBox="1"/>
          <p:nvPr/>
        </p:nvSpPr>
        <p:spPr>
          <a:xfrm>
            <a:off x="203667" y="1863587"/>
            <a:ext cx="18074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latin typeface="Patrick Hand" panose="00000500000000000000" pitchFamily="2" charset="0"/>
              </a:rPr>
              <a:t>Pendapatan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industri</a:t>
            </a:r>
            <a:r>
              <a:rPr lang="en-US" sz="1300" dirty="0">
                <a:latin typeface="Patrick Hand" panose="00000500000000000000" pitchFamily="2" charset="0"/>
              </a:rPr>
              <a:t> film </a:t>
            </a:r>
            <a:r>
              <a:rPr lang="en-US" b="1" dirty="0" err="1">
                <a:latin typeface="Patrick Hand" panose="00000500000000000000" pitchFamily="2" charset="0"/>
              </a:rPr>
              <a:t>anjlok</a:t>
            </a:r>
            <a:r>
              <a:rPr lang="en-US" b="1" dirty="0">
                <a:latin typeface="Patrick Hand" panose="00000500000000000000" pitchFamily="2" charset="0"/>
              </a:rPr>
              <a:t> </a:t>
            </a:r>
            <a:r>
              <a:rPr lang="en-US" b="1" dirty="0" err="1">
                <a:latin typeface="Patrick Hand" panose="00000500000000000000" pitchFamily="2" charset="0"/>
              </a:rPr>
              <a:t>lebih</a:t>
            </a:r>
            <a:r>
              <a:rPr lang="en-US" b="1" dirty="0">
                <a:latin typeface="Patrick Hand" panose="00000500000000000000" pitchFamily="2" charset="0"/>
              </a:rPr>
              <a:t> </a:t>
            </a:r>
            <a:r>
              <a:rPr lang="en-US" b="1" dirty="0" err="1">
                <a:latin typeface="Patrick Hand" panose="00000500000000000000" pitchFamily="2" charset="0"/>
              </a:rPr>
              <a:t>dari</a:t>
            </a:r>
            <a:r>
              <a:rPr lang="en-US" b="1" dirty="0">
                <a:latin typeface="Patrick Hand" panose="00000500000000000000" pitchFamily="2" charset="0"/>
              </a:rPr>
              <a:t> 80% </a:t>
            </a:r>
            <a:r>
              <a:rPr lang="en-US" sz="1300" dirty="0">
                <a:latin typeface="Patrick Hand" panose="00000500000000000000" pitchFamily="2" charset="0"/>
              </a:rPr>
              <a:t>pada 2020 dan </a:t>
            </a:r>
            <a:r>
              <a:rPr lang="en-US" sz="1300" dirty="0" err="1">
                <a:latin typeface="Patrick Hand" panose="00000500000000000000" pitchFamily="2" charset="0"/>
              </a:rPr>
              <a:t>belum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sepenuhnya</a:t>
            </a:r>
            <a:r>
              <a:rPr lang="en-US" sz="1300" dirty="0">
                <a:latin typeface="Patrick Hand" panose="00000500000000000000" pitchFamily="2" charset="0"/>
              </a:rPr>
              <a:t> </a:t>
            </a:r>
            <a:r>
              <a:rPr lang="en-US" sz="1300" dirty="0" err="1">
                <a:latin typeface="Patrick Hand" panose="00000500000000000000" pitchFamily="2" charset="0"/>
              </a:rPr>
              <a:t>pulih</a:t>
            </a:r>
            <a:endParaRPr lang="en-US" sz="1300" dirty="0">
              <a:latin typeface="Patrick Hand" panose="000005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9C3677-47BE-6BDA-84FF-2B3C3089C488}"/>
              </a:ext>
            </a:extLst>
          </p:cNvPr>
          <p:cNvSpPr/>
          <p:nvPr/>
        </p:nvSpPr>
        <p:spPr>
          <a:xfrm>
            <a:off x="5027696" y="1447139"/>
            <a:ext cx="1906833" cy="221441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atrick Hand" panose="00000500000000000000" pitchFamily="2" charset="0"/>
              </a:rPr>
              <a:t>Total Revenue per </a:t>
            </a:r>
            <a:r>
              <a:rPr lang="en-US" dirty="0" err="1">
                <a:latin typeface="Patrick Hand" panose="00000500000000000000" pitchFamily="2" charset="0"/>
              </a:rPr>
              <a:t>tahun</a:t>
            </a:r>
            <a:endParaRPr lang="en-US" dirty="0">
              <a:latin typeface="Patrick Hand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A4196-68BA-B019-28E1-09C0301CA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870" y="1668580"/>
            <a:ext cx="4867954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99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8EAA55E1-725D-6CFA-1B03-E2B457A46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159508-2B0E-AC3B-2788-7807B66CE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019" y="1697241"/>
            <a:ext cx="3600000" cy="2473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CAFFC5-1C52-0AF6-D1E9-8EB5A6B842F5}"/>
              </a:ext>
            </a:extLst>
          </p:cNvPr>
          <p:cNvSpPr txBox="1"/>
          <p:nvPr/>
        </p:nvSpPr>
        <p:spPr>
          <a:xfrm>
            <a:off x="203668" y="742150"/>
            <a:ext cx="8538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rPr>
              <a:t>How audience tastes changed post-Covid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ECAC8-8D06-EA81-623C-E363FC88FB4C}"/>
              </a:ext>
            </a:extLst>
          </p:cNvPr>
          <p:cNvSpPr/>
          <p:nvPr/>
        </p:nvSpPr>
        <p:spPr>
          <a:xfrm>
            <a:off x="0" y="4466107"/>
            <a:ext cx="9144000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ABD84B-40F6-4759-AE4F-029321F70089}"/>
              </a:ext>
            </a:extLst>
          </p:cNvPr>
          <p:cNvSpPr txBox="1"/>
          <p:nvPr/>
        </p:nvSpPr>
        <p:spPr>
          <a:xfrm>
            <a:off x="0" y="4545033"/>
            <a:ext cx="91440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Meski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Drama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masih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nyaman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dipuncak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Action dan Comedy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terus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mengintai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dari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belakang</a:t>
            </a:r>
            <a:r>
              <a:rPr lang="en-US" sz="1050" dirty="0"/>
              <a:t>—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siap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menyalin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kapan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saja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 Ini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menandakan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dominasi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satu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Genre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mulai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memudar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 Selera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penonton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kini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lebih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beragam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dan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menolak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formula lama. Studio yang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tidak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berani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bereksperimen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akan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ditinggalkan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Sekarang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saatnya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bertarung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dengan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ide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unik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dan fresh,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bukan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5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hanya</a:t>
            </a:r>
            <a:r>
              <a:rPr lang="en-US" sz="105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modal.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0C0A81-4E99-E9B5-1BB1-CCF2E7105EA0}"/>
              </a:ext>
            </a:extLst>
          </p:cNvPr>
          <p:cNvSpPr txBox="1"/>
          <p:nvPr/>
        </p:nvSpPr>
        <p:spPr>
          <a:xfrm>
            <a:off x="3400213" y="2328679"/>
            <a:ext cx="22815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atrick Hand" panose="00000500000000000000" pitchFamily="2" charset="0"/>
              </a:rPr>
              <a:t>Genre</a:t>
            </a:r>
            <a:r>
              <a:rPr lang="en-US" dirty="0">
                <a:latin typeface="Patrick Hand" panose="00000500000000000000" pitchFamily="2" charset="0"/>
              </a:rPr>
              <a:t> </a:t>
            </a:r>
            <a:r>
              <a:rPr lang="en-US" dirty="0" err="1">
                <a:latin typeface="Patrick Hand" panose="00000500000000000000" pitchFamily="2" charset="0"/>
              </a:rPr>
              <a:t>bertarung</a:t>
            </a:r>
            <a:r>
              <a:rPr lang="en-US" dirty="0">
                <a:latin typeface="Patrick Hand" panose="00000500000000000000" pitchFamily="2" charset="0"/>
              </a:rPr>
              <a:t> </a:t>
            </a:r>
            <a:r>
              <a:rPr lang="en-US" dirty="0" err="1">
                <a:latin typeface="Patrick Hand" panose="00000500000000000000" pitchFamily="2" charset="0"/>
              </a:rPr>
              <a:t>lebih</a:t>
            </a:r>
            <a:r>
              <a:rPr lang="en-US" dirty="0">
                <a:latin typeface="Patrick Hand" panose="00000500000000000000" pitchFamily="2" charset="0"/>
              </a:rPr>
              <a:t> </a:t>
            </a:r>
            <a:r>
              <a:rPr lang="en-US" b="1" dirty="0" err="1">
                <a:latin typeface="Patrick Hand" panose="00000500000000000000" pitchFamily="2" charset="0"/>
              </a:rPr>
              <a:t>seimbang</a:t>
            </a:r>
            <a:r>
              <a:rPr lang="en-US" dirty="0">
                <a:latin typeface="Patrick Hand" panose="00000500000000000000" pitchFamily="2" charset="0"/>
              </a:rPr>
              <a:t>. </a:t>
            </a:r>
            <a:r>
              <a:rPr lang="en-US" dirty="0" err="1">
                <a:latin typeface="Patrick Hand" panose="00000500000000000000" pitchFamily="2" charset="0"/>
              </a:rPr>
              <a:t>Membuka</a:t>
            </a:r>
            <a:r>
              <a:rPr lang="en-US" dirty="0">
                <a:latin typeface="Patrick Hand" panose="00000500000000000000" pitchFamily="2" charset="0"/>
              </a:rPr>
              <a:t> </a:t>
            </a:r>
            <a:r>
              <a:rPr lang="en-US" dirty="0" err="1">
                <a:latin typeface="Patrick Hand" panose="00000500000000000000" pitchFamily="2" charset="0"/>
              </a:rPr>
              <a:t>peluang</a:t>
            </a:r>
            <a:r>
              <a:rPr lang="en-US" dirty="0">
                <a:latin typeface="Patrick Hand" panose="00000500000000000000" pitchFamily="2" charset="0"/>
              </a:rPr>
              <a:t> </a:t>
            </a:r>
            <a:r>
              <a:rPr lang="en-US" dirty="0" err="1">
                <a:latin typeface="Patrick Hand" panose="00000500000000000000" pitchFamily="2" charset="0"/>
              </a:rPr>
              <a:t>untuk</a:t>
            </a:r>
            <a:r>
              <a:rPr lang="en-US" dirty="0">
                <a:latin typeface="Patrick Hand" panose="00000500000000000000" pitchFamily="2" charset="0"/>
              </a:rPr>
              <a:t> ide </a:t>
            </a:r>
            <a:r>
              <a:rPr lang="en-US" dirty="0" err="1">
                <a:latin typeface="Patrick Hand" panose="00000500000000000000" pitchFamily="2" charset="0"/>
              </a:rPr>
              <a:t>cerita</a:t>
            </a:r>
            <a:r>
              <a:rPr lang="en-US" dirty="0">
                <a:latin typeface="Patrick Hand" panose="00000500000000000000" pitchFamily="2" charset="0"/>
              </a:rPr>
              <a:t> yang </a:t>
            </a:r>
            <a:r>
              <a:rPr lang="en-US" dirty="0" err="1">
                <a:latin typeface="Patrick Hand" panose="00000500000000000000" pitchFamily="2" charset="0"/>
              </a:rPr>
              <a:t>lebih</a:t>
            </a:r>
            <a:r>
              <a:rPr lang="en-US" dirty="0">
                <a:latin typeface="Patrick Hand" panose="00000500000000000000" pitchFamily="2" charset="0"/>
              </a:rPr>
              <a:t> </a:t>
            </a:r>
            <a:r>
              <a:rPr lang="en-US" dirty="0" err="1">
                <a:latin typeface="Patrick Hand" panose="00000500000000000000" pitchFamily="2" charset="0"/>
              </a:rPr>
              <a:t>beragam</a:t>
            </a:r>
            <a:endParaRPr lang="en-US" sz="1300" dirty="0">
              <a:latin typeface="Patrick Hand" panose="000005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B99309-325B-74E3-32C3-5B5818412AEF}"/>
              </a:ext>
            </a:extLst>
          </p:cNvPr>
          <p:cNvSpPr/>
          <p:nvPr/>
        </p:nvSpPr>
        <p:spPr>
          <a:xfrm>
            <a:off x="5027696" y="1447139"/>
            <a:ext cx="1906833" cy="221441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atrick Hand" panose="00000500000000000000" pitchFamily="2" charset="0"/>
              </a:rPr>
              <a:t>% Share top 5 Genre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69D06B-6E54-F103-E34C-273D352C2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4000" y="1697241"/>
            <a:ext cx="3600000" cy="247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5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771BA326-DDA8-BE31-43DA-2E2868A06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58B9B4-824A-DE23-4358-4F3E2EE02887}"/>
              </a:ext>
            </a:extLst>
          </p:cNvPr>
          <p:cNvSpPr txBox="1"/>
          <p:nvPr/>
        </p:nvSpPr>
        <p:spPr>
          <a:xfrm>
            <a:off x="203668" y="742150"/>
            <a:ext cx="8538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rPr>
              <a:t>genre shake-up : The battle for audience attention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69A0B-7858-7A31-0AEC-1961F9DE992E}"/>
              </a:ext>
            </a:extLst>
          </p:cNvPr>
          <p:cNvSpPr/>
          <p:nvPr/>
        </p:nvSpPr>
        <p:spPr>
          <a:xfrm>
            <a:off x="0" y="4466107"/>
            <a:ext cx="9144000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6A64B-F6BD-F829-1769-8086E10E754B}"/>
              </a:ext>
            </a:extLst>
          </p:cNvPr>
          <p:cNvSpPr txBox="1"/>
          <p:nvPr/>
        </p:nvSpPr>
        <p:spPr>
          <a:xfrm>
            <a:off x="0" y="4545033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Drama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tetap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mendominasi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jumlah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film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tapi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kehilangan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pangsa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pasar,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menandakan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adanya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kejenuhan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penonton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pada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pola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lama. Romance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merosot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paling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menjadi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sinyal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alarm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bagi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produser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Sementara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itu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Horror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melesat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tajam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menunjukan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selera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penonton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bergeser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menjadi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pengalaman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yang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mendebarkan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dan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menegangkan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 Studio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harus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lebih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berani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membaca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tren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ini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untuk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tetap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relevan</a:t>
            </a:r>
            <a:r>
              <a:rPr lang="en-US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352370E-744B-1A1B-9EC9-22C7B536E952}"/>
              </a:ext>
            </a:extLst>
          </p:cNvPr>
          <p:cNvSpPr/>
          <p:nvPr/>
        </p:nvSpPr>
        <p:spPr>
          <a:xfrm>
            <a:off x="5027696" y="1447139"/>
            <a:ext cx="1906833" cy="221441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atrick Hand" panose="00000500000000000000" pitchFamily="2" charset="0"/>
              </a:rPr>
              <a:t>Genre share change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4F6BEB-FB5C-255C-62BA-AECA7D667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312" y="1701787"/>
            <a:ext cx="5499069" cy="2633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3C494C-2EE1-6A6C-E99D-E6272046B440}"/>
              </a:ext>
            </a:extLst>
          </p:cNvPr>
          <p:cNvSpPr/>
          <p:nvPr/>
        </p:nvSpPr>
        <p:spPr>
          <a:xfrm>
            <a:off x="2842352" y="3128790"/>
            <a:ext cx="1465243" cy="264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B9829D-8FB9-6C5A-813F-41F6FE3F5D49}"/>
              </a:ext>
            </a:extLst>
          </p:cNvPr>
          <p:cNvSpPr/>
          <p:nvPr/>
        </p:nvSpPr>
        <p:spPr>
          <a:xfrm>
            <a:off x="1921619" y="2281249"/>
            <a:ext cx="2385976" cy="26440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1DF5C2-670A-B54E-647A-A116A1DC3181}"/>
              </a:ext>
            </a:extLst>
          </p:cNvPr>
          <p:cNvSpPr/>
          <p:nvPr/>
        </p:nvSpPr>
        <p:spPr>
          <a:xfrm>
            <a:off x="4222307" y="2620192"/>
            <a:ext cx="3000073" cy="26440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Thumbs up sign with solid fill">
            <a:extLst>
              <a:ext uri="{FF2B5EF4-FFF2-40B4-BE49-F238E27FC236}">
                <a16:creationId xmlns:a16="http://schemas.microsoft.com/office/drawing/2014/main" id="{BD37F09D-42AA-BA3B-BE35-D2E77B5C26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1527468" y="2277211"/>
            <a:ext cx="391688" cy="39168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CA41CD1-2CDD-860B-C2E8-CBF90D617768}"/>
              </a:ext>
            </a:extLst>
          </p:cNvPr>
          <p:cNvSpPr/>
          <p:nvPr/>
        </p:nvSpPr>
        <p:spPr>
          <a:xfrm>
            <a:off x="7065627" y="3004465"/>
            <a:ext cx="1940805" cy="447258"/>
          </a:xfrm>
          <a:custGeom>
            <a:avLst/>
            <a:gdLst>
              <a:gd name="connsiteX0" fmla="*/ 0 w 1940805"/>
              <a:gd name="connsiteY0" fmla="*/ 0 h 447258"/>
              <a:gd name="connsiteX1" fmla="*/ 446385 w 1940805"/>
              <a:gd name="connsiteY1" fmla="*/ 0 h 447258"/>
              <a:gd name="connsiteX2" fmla="*/ 912178 w 1940805"/>
              <a:gd name="connsiteY2" fmla="*/ 0 h 447258"/>
              <a:gd name="connsiteX3" fmla="*/ 1358564 w 1940805"/>
              <a:gd name="connsiteY3" fmla="*/ 0 h 447258"/>
              <a:gd name="connsiteX4" fmla="*/ 1940805 w 1940805"/>
              <a:gd name="connsiteY4" fmla="*/ 0 h 447258"/>
              <a:gd name="connsiteX5" fmla="*/ 1940805 w 1940805"/>
              <a:gd name="connsiteY5" fmla="*/ 447258 h 447258"/>
              <a:gd name="connsiteX6" fmla="*/ 1455604 w 1940805"/>
              <a:gd name="connsiteY6" fmla="*/ 447258 h 447258"/>
              <a:gd name="connsiteX7" fmla="*/ 1009219 w 1940805"/>
              <a:gd name="connsiteY7" fmla="*/ 447258 h 447258"/>
              <a:gd name="connsiteX8" fmla="*/ 582242 w 1940805"/>
              <a:gd name="connsiteY8" fmla="*/ 447258 h 447258"/>
              <a:gd name="connsiteX9" fmla="*/ 0 w 1940805"/>
              <a:gd name="connsiteY9" fmla="*/ 447258 h 447258"/>
              <a:gd name="connsiteX10" fmla="*/ 0 w 1940805"/>
              <a:gd name="connsiteY10" fmla="*/ 0 h 447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40805" h="447258" fill="none" extrusionOk="0">
                <a:moveTo>
                  <a:pt x="0" y="0"/>
                </a:moveTo>
                <a:cubicBezTo>
                  <a:pt x="168497" y="-12157"/>
                  <a:pt x="324851" y="22843"/>
                  <a:pt x="446385" y="0"/>
                </a:cubicBezTo>
                <a:cubicBezTo>
                  <a:pt x="567919" y="-22843"/>
                  <a:pt x="750068" y="30565"/>
                  <a:pt x="912178" y="0"/>
                </a:cubicBezTo>
                <a:cubicBezTo>
                  <a:pt x="1074288" y="-30565"/>
                  <a:pt x="1189141" y="13502"/>
                  <a:pt x="1358564" y="0"/>
                </a:cubicBezTo>
                <a:cubicBezTo>
                  <a:pt x="1527987" y="-13502"/>
                  <a:pt x="1747024" y="31608"/>
                  <a:pt x="1940805" y="0"/>
                </a:cubicBezTo>
                <a:cubicBezTo>
                  <a:pt x="1959964" y="215010"/>
                  <a:pt x="1913725" y="264566"/>
                  <a:pt x="1940805" y="447258"/>
                </a:cubicBezTo>
                <a:cubicBezTo>
                  <a:pt x="1794328" y="476511"/>
                  <a:pt x="1672944" y="443867"/>
                  <a:pt x="1455604" y="447258"/>
                </a:cubicBezTo>
                <a:cubicBezTo>
                  <a:pt x="1238264" y="450649"/>
                  <a:pt x="1177485" y="445263"/>
                  <a:pt x="1009219" y="447258"/>
                </a:cubicBezTo>
                <a:cubicBezTo>
                  <a:pt x="840953" y="449253"/>
                  <a:pt x="698159" y="402167"/>
                  <a:pt x="582242" y="447258"/>
                </a:cubicBezTo>
                <a:cubicBezTo>
                  <a:pt x="466325" y="492349"/>
                  <a:pt x="240862" y="407561"/>
                  <a:pt x="0" y="447258"/>
                </a:cubicBezTo>
                <a:cubicBezTo>
                  <a:pt x="-17281" y="235385"/>
                  <a:pt x="655" y="207513"/>
                  <a:pt x="0" y="0"/>
                </a:cubicBezTo>
                <a:close/>
              </a:path>
              <a:path w="1940805" h="447258" stroke="0" extrusionOk="0">
                <a:moveTo>
                  <a:pt x="0" y="0"/>
                </a:moveTo>
                <a:cubicBezTo>
                  <a:pt x="191033" y="-61382"/>
                  <a:pt x="325701" y="13636"/>
                  <a:pt x="524017" y="0"/>
                </a:cubicBezTo>
                <a:cubicBezTo>
                  <a:pt x="722333" y="-13636"/>
                  <a:pt x="799830" y="46857"/>
                  <a:pt x="1009219" y="0"/>
                </a:cubicBezTo>
                <a:cubicBezTo>
                  <a:pt x="1218608" y="-46857"/>
                  <a:pt x="1284335" y="21095"/>
                  <a:pt x="1455604" y="0"/>
                </a:cubicBezTo>
                <a:cubicBezTo>
                  <a:pt x="1626873" y="-21095"/>
                  <a:pt x="1735980" y="25609"/>
                  <a:pt x="1940805" y="0"/>
                </a:cubicBezTo>
                <a:cubicBezTo>
                  <a:pt x="1973283" y="96222"/>
                  <a:pt x="1910508" y="266072"/>
                  <a:pt x="1940805" y="447258"/>
                </a:cubicBezTo>
                <a:cubicBezTo>
                  <a:pt x="1815187" y="455438"/>
                  <a:pt x="1578357" y="402780"/>
                  <a:pt x="1455604" y="447258"/>
                </a:cubicBezTo>
                <a:cubicBezTo>
                  <a:pt x="1332851" y="491736"/>
                  <a:pt x="1060129" y="393976"/>
                  <a:pt x="950994" y="447258"/>
                </a:cubicBezTo>
                <a:cubicBezTo>
                  <a:pt x="841859" y="500540"/>
                  <a:pt x="644702" y="434876"/>
                  <a:pt x="446385" y="447258"/>
                </a:cubicBezTo>
                <a:cubicBezTo>
                  <a:pt x="248068" y="459640"/>
                  <a:pt x="158898" y="400185"/>
                  <a:pt x="0" y="447258"/>
                </a:cubicBezTo>
                <a:cubicBezTo>
                  <a:pt x="-24908" y="339155"/>
                  <a:pt x="4133" y="123823"/>
                  <a:pt x="0" y="0"/>
                </a:cubicBezTo>
                <a:close/>
              </a:path>
            </a:pathLst>
          </a:custGeom>
          <a:solidFill>
            <a:schemeClr val="accent4">
              <a:lumMod val="75000"/>
              <a:alpha val="36000"/>
            </a:schemeClr>
          </a:solidFill>
          <a:ln cap="rnd">
            <a:solidFill>
              <a:srgbClr val="2E7D32">
                <a:alpha val="98000"/>
              </a:srgbClr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Horror</a:t>
            </a:r>
            <a:r>
              <a:rPr lang="en-U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U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Bintang </a:t>
            </a:r>
            <a:r>
              <a:rPr lang="en-US" sz="900" b="1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baru</a:t>
            </a:r>
            <a:r>
              <a:rPr lang="en-US" sz="9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lonjakan</a:t>
            </a:r>
            <a:r>
              <a:rPr lang="en-U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tajam</a:t>
            </a:r>
            <a:endParaRPr lang="en-US" sz="9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2CD781-54FF-BE18-DA5D-7EB38560329C}"/>
              </a:ext>
            </a:extLst>
          </p:cNvPr>
          <p:cNvSpPr/>
          <p:nvPr/>
        </p:nvSpPr>
        <p:spPr>
          <a:xfrm>
            <a:off x="824787" y="3255185"/>
            <a:ext cx="1940805" cy="447258"/>
          </a:xfrm>
          <a:custGeom>
            <a:avLst/>
            <a:gdLst>
              <a:gd name="connsiteX0" fmla="*/ 0 w 1940805"/>
              <a:gd name="connsiteY0" fmla="*/ 0 h 447258"/>
              <a:gd name="connsiteX1" fmla="*/ 465793 w 1940805"/>
              <a:gd name="connsiteY1" fmla="*/ 0 h 447258"/>
              <a:gd name="connsiteX2" fmla="*/ 950994 w 1940805"/>
              <a:gd name="connsiteY2" fmla="*/ 0 h 447258"/>
              <a:gd name="connsiteX3" fmla="*/ 1436196 w 1940805"/>
              <a:gd name="connsiteY3" fmla="*/ 0 h 447258"/>
              <a:gd name="connsiteX4" fmla="*/ 1940805 w 1940805"/>
              <a:gd name="connsiteY4" fmla="*/ 0 h 447258"/>
              <a:gd name="connsiteX5" fmla="*/ 1940805 w 1940805"/>
              <a:gd name="connsiteY5" fmla="*/ 447258 h 447258"/>
              <a:gd name="connsiteX6" fmla="*/ 1455604 w 1940805"/>
              <a:gd name="connsiteY6" fmla="*/ 447258 h 447258"/>
              <a:gd name="connsiteX7" fmla="*/ 1009219 w 1940805"/>
              <a:gd name="connsiteY7" fmla="*/ 447258 h 447258"/>
              <a:gd name="connsiteX8" fmla="*/ 562833 w 1940805"/>
              <a:gd name="connsiteY8" fmla="*/ 447258 h 447258"/>
              <a:gd name="connsiteX9" fmla="*/ 0 w 1940805"/>
              <a:gd name="connsiteY9" fmla="*/ 447258 h 447258"/>
              <a:gd name="connsiteX10" fmla="*/ 0 w 1940805"/>
              <a:gd name="connsiteY10" fmla="*/ 0 h 447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40805" h="447258" fill="none" extrusionOk="0">
                <a:moveTo>
                  <a:pt x="0" y="0"/>
                </a:moveTo>
                <a:cubicBezTo>
                  <a:pt x="113077" y="-24319"/>
                  <a:pt x="317542" y="34421"/>
                  <a:pt x="465793" y="0"/>
                </a:cubicBezTo>
                <a:cubicBezTo>
                  <a:pt x="614044" y="-34421"/>
                  <a:pt x="808077" y="42186"/>
                  <a:pt x="950994" y="0"/>
                </a:cubicBezTo>
                <a:cubicBezTo>
                  <a:pt x="1093911" y="-42186"/>
                  <a:pt x="1205863" y="37188"/>
                  <a:pt x="1436196" y="0"/>
                </a:cubicBezTo>
                <a:cubicBezTo>
                  <a:pt x="1666529" y="-37188"/>
                  <a:pt x="1707720" y="7485"/>
                  <a:pt x="1940805" y="0"/>
                </a:cubicBezTo>
                <a:cubicBezTo>
                  <a:pt x="1981848" y="213659"/>
                  <a:pt x="1939321" y="306792"/>
                  <a:pt x="1940805" y="447258"/>
                </a:cubicBezTo>
                <a:cubicBezTo>
                  <a:pt x="1741643" y="492162"/>
                  <a:pt x="1616955" y="412078"/>
                  <a:pt x="1455604" y="447258"/>
                </a:cubicBezTo>
                <a:cubicBezTo>
                  <a:pt x="1294253" y="482438"/>
                  <a:pt x="1110078" y="420039"/>
                  <a:pt x="1009219" y="447258"/>
                </a:cubicBezTo>
                <a:cubicBezTo>
                  <a:pt x="908361" y="474477"/>
                  <a:pt x="746144" y="425470"/>
                  <a:pt x="562833" y="447258"/>
                </a:cubicBezTo>
                <a:cubicBezTo>
                  <a:pt x="379522" y="469046"/>
                  <a:pt x="232650" y="380227"/>
                  <a:pt x="0" y="447258"/>
                </a:cubicBezTo>
                <a:cubicBezTo>
                  <a:pt x="-2131" y="323537"/>
                  <a:pt x="49830" y="170215"/>
                  <a:pt x="0" y="0"/>
                </a:cubicBezTo>
                <a:close/>
              </a:path>
              <a:path w="1940805" h="447258" stroke="0" extrusionOk="0">
                <a:moveTo>
                  <a:pt x="0" y="0"/>
                </a:moveTo>
                <a:cubicBezTo>
                  <a:pt x="113166" y="-4956"/>
                  <a:pt x="262708" y="3633"/>
                  <a:pt x="465793" y="0"/>
                </a:cubicBezTo>
                <a:cubicBezTo>
                  <a:pt x="668878" y="-3633"/>
                  <a:pt x="727454" y="42508"/>
                  <a:pt x="892770" y="0"/>
                </a:cubicBezTo>
                <a:cubicBezTo>
                  <a:pt x="1058086" y="-42508"/>
                  <a:pt x="1308669" y="15485"/>
                  <a:pt x="1416788" y="0"/>
                </a:cubicBezTo>
                <a:cubicBezTo>
                  <a:pt x="1524907" y="-15485"/>
                  <a:pt x="1755692" y="62748"/>
                  <a:pt x="1940805" y="0"/>
                </a:cubicBezTo>
                <a:cubicBezTo>
                  <a:pt x="1942146" y="100991"/>
                  <a:pt x="1901227" y="338211"/>
                  <a:pt x="1940805" y="447258"/>
                </a:cubicBezTo>
                <a:cubicBezTo>
                  <a:pt x="1790347" y="460485"/>
                  <a:pt x="1641139" y="425546"/>
                  <a:pt x="1494420" y="447258"/>
                </a:cubicBezTo>
                <a:cubicBezTo>
                  <a:pt x="1347702" y="468970"/>
                  <a:pt x="1221784" y="399185"/>
                  <a:pt x="1048035" y="447258"/>
                </a:cubicBezTo>
                <a:cubicBezTo>
                  <a:pt x="874287" y="495331"/>
                  <a:pt x="757730" y="391056"/>
                  <a:pt x="524017" y="447258"/>
                </a:cubicBezTo>
                <a:cubicBezTo>
                  <a:pt x="290304" y="503460"/>
                  <a:pt x="257634" y="395959"/>
                  <a:pt x="0" y="447258"/>
                </a:cubicBezTo>
                <a:cubicBezTo>
                  <a:pt x="-30542" y="273501"/>
                  <a:pt x="28532" y="170578"/>
                  <a:pt x="0" y="0"/>
                </a:cubicBezTo>
                <a:close/>
              </a:path>
            </a:pathLst>
          </a:custGeom>
          <a:solidFill>
            <a:schemeClr val="accent4">
              <a:lumMod val="75000"/>
              <a:alpha val="36000"/>
            </a:schemeClr>
          </a:solidFill>
          <a:ln cap="rnd">
            <a:solidFill>
              <a:srgbClr val="2E7D32">
                <a:alpha val="98000"/>
              </a:srgb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Drama</a:t>
            </a:r>
            <a:r>
              <a:rPr lang="en-U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yang dramatis, </a:t>
            </a:r>
            <a:r>
              <a:rPr lang="en-US" sz="9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berada</a:t>
            </a:r>
            <a:r>
              <a:rPr lang="en-U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dipuncak</a:t>
            </a:r>
            <a:r>
              <a:rPr lang="en-U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genre </a:t>
            </a:r>
            <a:r>
              <a:rPr lang="en-US" sz="9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tapi</a:t>
            </a:r>
            <a:r>
              <a:rPr lang="en-U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b="1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kehilangan</a:t>
            </a:r>
            <a:r>
              <a:rPr lang="en-US" sz="9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b="1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daya</a:t>
            </a:r>
            <a:r>
              <a:rPr lang="en-US" sz="9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b="1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gigit</a:t>
            </a:r>
            <a:endParaRPr lang="en-US" sz="9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FF1861-57E1-54B4-9A77-59E82193850B}"/>
              </a:ext>
            </a:extLst>
          </p:cNvPr>
          <p:cNvSpPr/>
          <p:nvPr/>
        </p:nvSpPr>
        <p:spPr>
          <a:xfrm>
            <a:off x="70762" y="1796745"/>
            <a:ext cx="2385976" cy="447259"/>
          </a:xfrm>
          <a:custGeom>
            <a:avLst/>
            <a:gdLst>
              <a:gd name="connsiteX0" fmla="*/ 0 w 2385976"/>
              <a:gd name="connsiteY0" fmla="*/ 0 h 447259"/>
              <a:gd name="connsiteX1" fmla="*/ 548774 w 2385976"/>
              <a:gd name="connsiteY1" fmla="*/ 0 h 447259"/>
              <a:gd name="connsiteX2" fmla="*/ 1121409 w 2385976"/>
              <a:gd name="connsiteY2" fmla="*/ 0 h 447259"/>
              <a:gd name="connsiteX3" fmla="*/ 1670183 w 2385976"/>
              <a:gd name="connsiteY3" fmla="*/ 0 h 447259"/>
              <a:gd name="connsiteX4" fmla="*/ 2385976 w 2385976"/>
              <a:gd name="connsiteY4" fmla="*/ 0 h 447259"/>
              <a:gd name="connsiteX5" fmla="*/ 2385976 w 2385976"/>
              <a:gd name="connsiteY5" fmla="*/ 447259 h 447259"/>
              <a:gd name="connsiteX6" fmla="*/ 1789482 w 2385976"/>
              <a:gd name="connsiteY6" fmla="*/ 447259 h 447259"/>
              <a:gd name="connsiteX7" fmla="*/ 1240708 w 2385976"/>
              <a:gd name="connsiteY7" fmla="*/ 447259 h 447259"/>
              <a:gd name="connsiteX8" fmla="*/ 715793 w 2385976"/>
              <a:gd name="connsiteY8" fmla="*/ 447259 h 447259"/>
              <a:gd name="connsiteX9" fmla="*/ 0 w 2385976"/>
              <a:gd name="connsiteY9" fmla="*/ 447259 h 447259"/>
              <a:gd name="connsiteX10" fmla="*/ 0 w 2385976"/>
              <a:gd name="connsiteY10" fmla="*/ 0 h 447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85976" h="447259" fill="none" extrusionOk="0">
                <a:moveTo>
                  <a:pt x="0" y="0"/>
                </a:moveTo>
                <a:cubicBezTo>
                  <a:pt x="224800" y="-21174"/>
                  <a:pt x="318840" y="34866"/>
                  <a:pt x="548774" y="0"/>
                </a:cubicBezTo>
                <a:cubicBezTo>
                  <a:pt x="778708" y="-34866"/>
                  <a:pt x="904959" y="41666"/>
                  <a:pt x="1121409" y="0"/>
                </a:cubicBezTo>
                <a:cubicBezTo>
                  <a:pt x="1337859" y="-41666"/>
                  <a:pt x="1486113" y="22518"/>
                  <a:pt x="1670183" y="0"/>
                </a:cubicBezTo>
                <a:cubicBezTo>
                  <a:pt x="1854253" y="-22518"/>
                  <a:pt x="2028427" y="76389"/>
                  <a:pt x="2385976" y="0"/>
                </a:cubicBezTo>
                <a:cubicBezTo>
                  <a:pt x="2411802" y="205936"/>
                  <a:pt x="2361855" y="264131"/>
                  <a:pt x="2385976" y="447259"/>
                </a:cubicBezTo>
                <a:cubicBezTo>
                  <a:pt x="2165568" y="474320"/>
                  <a:pt x="1941628" y="403866"/>
                  <a:pt x="1789482" y="447259"/>
                </a:cubicBezTo>
                <a:cubicBezTo>
                  <a:pt x="1637336" y="490652"/>
                  <a:pt x="1505908" y="441947"/>
                  <a:pt x="1240708" y="447259"/>
                </a:cubicBezTo>
                <a:cubicBezTo>
                  <a:pt x="975508" y="452571"/>
                  <a:pt x="841916" y="441824"/>
                  <a:pt x="715793" y="447259"/>
                </a:cubicBezTo>
                <a:cubicBezTo>
                  <a:pt x="589671" y="452694"/>
                  <a:pt x="255993" y="423092"/>
                  <a:pt x="0" y="447259"/>
                </a:cubicBezTo>
                <a:cubicBezTo>
                  <a:pt x="-23613" y="240609"/>
                  <a:pt x="47374" y="213495"/>
                  <a:pt x="0" y="0"/>
                </a:cubicBezTo>
                <a:close/>
              </a:path>
              <a:path w="2385976" h="447259" stroke="0" extrusionOk="0">
                <a:moveTo>
                  <a:pt x="0" y="0"/>
                </a:moveTo>
                <a:cubicBezTo>
                  <a:pt x="255725" y="-29971"/>
                  <a:pt x="356545" y="77094"/>
                  <a:pt x="644214" y="0"/>
                </a:cubicBezTo>
                <a:cubicBezTo>
                  <a:pt x="931883" y="-77094"/>
                  <a:pt x="1061620" y="15949"/>
                  <a:pt x="1240708" y="0"/>
                </a:cubicBezTo>
                <a:cubicBezTo>
                  <a:pt x="1419796" y="-15949"/>
                  <a:pt x="1575879" y="14757"/>
                  <a:pt x="1789482" y="0"/>
                </a:cubicBezTo>
                <a:cubicBezTo>
                  <a:pt x="2003085" y="-14757"/>
                  <a:pt x="2108925" y="47085"/>
                  <a:pt x="2385976" y="0"/>
                </a:cubicBezTo>
                <a:cubicBezTo>
                  <a:pt x="2419877" y="221267"/>
                  <a:pt x="2363753" y="264441"/>
                  <a:pt x="2385976" y="447259"/>
                </a:cubicBezTo>
                <a:cubicBezTo>
                  <a:pt x="2202413" y="451954"/>
                  <a:pt x="2029920" y="376982"/>
                  <a:pt x="1789482" y="447259"/>
                </a:cubicBezTo>
                <a:cubicBezTo>
                  <a:pt x="1549044" y="517536"/>
                  <a:pt x="1348509" y="434145"/>
                  <a:pt x="1169128" y="447259"/>
                </a:cubicBezTo>
                <a:cubicBezTo>
                  <a:pt x="989747" y="460373"/>
                  <a:pt x="794232" y="433835"/>
                  <a:pt x="548774" y="447259"/>
                </a:cubicBezTo>
                <a:cubicBezTo>
                  <a:pt x="303316" y="460683"/>
                  <a:pt x="165467" y="437545"/>
                  <a:pt x="0" y="447259"/>
                </a:cubicBezTo>
                <a:cubicBezTo>
                  <a:pt x="-28520" y="342463"/>
                  <a:pt x="2750" y="127598"/>
                  <a:pt x="0" y="0"/>
                </a:cubicBezTo>
                <a:close/>
              </a:path>
            </a:pathLst>
          </a:custGeom>
          <a:solidFill>
            <a:schemeClr val="accent4">
              <a:lumMod val="75000"/>
              <a:alpha val="36000"/>
            </a:schemeClr>
          </a:solidFill>
          <a:ln cap="rnd">
            <a:solidFill>
              <a:srgbClr val="2E7D32">
                <a:alpha val="98000"/>
              </a:srgbClr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Romance </a:t>
            </a:r>
            <a:r>
              <a:rPr lang="en-US" sz="9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kehilangan</a:t>
            </a:r>
            <a:r>
              <a:rPr lang="en-U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banyak</a:t>
            </a:r>
            <a:r>
              <a:rPr lang="en-U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magnet </a:t>
            </a:r>
            <a:r>
              <a:rPr lang="en-US" sz="900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penonton</a:t>
            </a:r>
            <a:endParaRPr lang="en-US" sz="9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Graphic 23" descr="Stars with solid fill">
            <a:extLst>
              <a:ext uri="{FF2B5EF4-FFF2-40B4-BE49-F238E27FC236}">
                <a16:creationId xmlns:a16="http://schemas.microsoft.com/office/drawing/2014/main" id="{7D09F4A9-E2B4-681C-C643-C7D4FE2280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2663" y="2368917"/>
            <a:ext cx="647898" cy="647898"/>
          </a:xfrm>
          <a:prstGeom prst="rect">
            <a:avLst/>
          </a:prstGeom>
        </p:spPr>
      </p:pic>
      <p:pic>
        <p:nvPicPr>
          <p:cNvPr id="16" name="Graphic 15" descr="Crying face with solid fill with solid fill">
            <a:extLst>
              <a:ext uri="{FF2B5EF4-FFF2-40B4-BE49-F238E27FC236}">
                <a16:creationId xmlns:a16="http://schemas.microsoft.com/office/drawing/2014/main" id="{32E548CE-D015-0F71-DF94-79AFB687D3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41426" y="2912014"/>
            <a:ext cx="379656" cy="37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335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8E8BC3-FF89-7A10-9897-812DDEF6CECB}"/>
              </a:ext>
            </a:extLst>
          </p:cNvPr>
          <p:cNvSpPr txBox="1"/>
          <p:nvPr/>
        </p:nvSpPr>
        <p:spPr>
          <a:xfrm>
            <a:off x="132202" y="1575412"/>
            <a:ext cx="31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REKOMENDASI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Graphic 5" descr="Arrow: Rotate left with solid fill">
            <a:extLst>
              <a:ext uri="{FF2B5EF4-FFF2-40B4-BE49-F238E27FC236}">
                <a16:creationId xmlns:a16="http://schemas.microsoft.com/office/drawing/2014/main" id="{94D581B8-DC58-A371-83E5-3EE06DE1B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553167">
            <a:off x="2091738" y="1738243"/>
            <a:ext cx="1028714" cy="1667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9CF7FE-7223-54DE-98F3-CBE14642D470}"/>
              </a:ext>
            </a:extLst>
          </p:cNvPr>
          <p:cNvSpPr txBox="1"/>
          <p:nvPr/>
        </p:nvSpPr>
        <p:spPr>
          <a:xfrm>
            <a:off x="3785507" y="638978"/>
            <a:ext cx="53584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Ubah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Pendekatan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Produksi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Dari “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Jualan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Aman”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Menjadi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“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Eksplorasi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Berani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58DDDC-FB3B-C2D0-9958-6A8AFCB8CC92}"/>
              </a:ext>
            </a:extLst>
          </p:cNvPr>
          <p:cNvSpPr txBox="1"/>
          <p:nvPr/>
        </p:nvSpPr>
        <p:spPr>
          <a:xfrm>
            <a:off x="3785506" y="1635495"/>
            <a:ext cx="53584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Reinterpretasi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Genre Lama Agar Tidak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Ditinggalkan</a:t>
            </a:r>
            <a:endParaRPr lang="en-US" sz="1000" b="1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06BC28-FFBE-E478-933D-855A57DB18F1}"/>
              </a:ext>
            </a:extLst>
          </p:cNvPr>
          <p:cNvSpPr txBox="1"/>
          <p:nvPr/>
        </p:nvSpPr>
        <p:spPr>
          <a:xfrm>
            <a:off x="3970957" y="860371"/>
            <a:ext cx="51730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Jangan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lagi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hanya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mengejar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genre yang </a:t>
            </a:r>
            <a:r>
              <a:rPr lang="en-US" sz="900" i="1" dirty="0" err="1">
                <a:latin typeface="Poppins" panose="00000500000000000000" pitchFamily="2" charset="0"/>
                <a:cs typeface="Poppins" panose="00000500000000000000" pitchFamily="2" charset="0"/>
              </a:rPr>
              <a:t>dulu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populer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Penonton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mencari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pengalaman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menantang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tertebak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emosional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 Studio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harus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membangun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portofolio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genre yang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berani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–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sekaligus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beragam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2F4921-78F6-2092-6899-176681597A08}"/>
              </a:ext>
            </a:extLst>
          </p:cNvPr>
          <p:cNvSpPr txBox="1"/>
          <p:nvPr/>
        </p:nvSpPr>
        <p:spPr>
          <a:xfrm>
            <a:off x="3970957" y="1856887"/>
            <a:ext cx="51730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Drama dan Romance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belum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mati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–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tapi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harus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dihidupkan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kembali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cara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baru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Gunakan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sudut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pandang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segar,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padu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padankan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genre,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hadirkan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karakter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konflik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relevan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genrerasi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pasca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pandemi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53817C-4113-E1B6-944C-29D2B2DC9601}"/>
              </a:ext>
            </a:extLst>
          </p:cNvPr>
          <p:cNvSpPr txBox="1"/>
          <p:nvPr/>
        </p:nvSpPr>
        <p:spPr>
          <a:xfrm>
            <a:off x="3785507" y="2503712"/>
            <a:ext cx="53584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Fokus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Pada Genre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Dengan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Margin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Tingi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Dan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Potensi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Viral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93CA2-3CF3-AEF4-70DA-58DC3D92E642}"/>
              </a:ext>
            </a:extLst>
          </p:cNvPr>
          <p:cNvSpPr txBox="1"/>
          <p:nvPr/>
        </p:nvSpPr>
        <p:spPr>
          <a:xfrm>
            <a:off x="3970958" y="2725104"/>
            <a:ext cx="5173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Genre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seperti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Horror dan Mystery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seringkali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memiliki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biaya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produksi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tapi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bisa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menghasilkan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profit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jika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dikemas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cerita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uat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kampanye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pemasaran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cerdas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 Studio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perlu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memprioritaskan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genre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sebagai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strategi </a:t>
            </a:r>
            <a:r>
              <a:rPr lang="en-US" sz="900" i="1" dirty="0">
                <a:latin typeface="Poppins" panose="00000500000000000000" pitchFamily="2" charset="0"/>
                <a:cs typeface="Poppins" panose="00000500000000000000" pitchFamily="2" charset="0"/>
              </a:rPr>
              <a:t>low cost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i="1" dirty="0">
                <a:latin typeface="Poppins" panose="00000500000000000000" pitchFamily="2" charset="0"/>
                <a:cs typeface="Poppins" panose="00000500000000000000" pitchFamily="2" charset="0"/>
              </a:rPr>
              <a:t>– high impact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4BA7D0-BDD5-979F-803E-B90A6E857C91}"/>
              </a:ext>
            </a:extLst>
          </p:cNvPr>
          <p:cNvSpPr txBox="1"/>
          <p:nvPr/>
        </p:nvSpPr>
        <p:spPr>
          <a:xfrm>
            <a:off x="3785506" y="3557055"/>
            <a:ext cx="53584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Perkuat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Distribusi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Digital Dan Pasar Global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FD916-18C7-3702-96E2-421DF10131ED}"/>
              </a:ext>
            </a:extLst>
          </p:cNvPr>
          <p:cNvSpPr txBox="1"/>
          <p:nvPr/>
        </p:nvSpPr>
        <p:spPr>
          <a:xfrm>
            <a:off x="3970957" y="3778447"/>
            <a:ext cx="51730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Pasca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pandemi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banyak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penonton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berpindah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platform digital.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Perluasan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OTT (Netflix, Prime, Disney+)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bukan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hanya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menjangkau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audiens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global,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tapi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juga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membuka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revenue stream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tambahan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lisensi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penayangan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jangka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Panjang.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A829E-10F1-FFEA-9B83-ACE8E766B3CB}"/>
              </a:ext>
            </a:extLst>
          </p:cNvPr>
          <p:cNvSpPr txBox="1"/>
          <p:nvPr/>
        </p:nvSpPr>
        <p:spPr>
          <a:xfrm>
            <a:off x="3521101" y="565881"/>
            <a:ext cx="365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0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5D248-A5F9-02DD-B52B-CD12F81088C3}"/>
              </a:ext>
            </a:extLst>
          </p:cNvPr>
          <p:cNvSpPr txBox="1"/>
          <p:nvPr/>
        </p:nvSpPr>
        <p:spPr>
          <a:xfrm>
            <a:off x="3512820" y="1571345"/>
            <a:ext cx="365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0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F9739-C5E4-95C5-E95D-C57535868E7A}"/>
              </a:ext>
            </a:extLst>
          </p:cNvPr>
          <p:cNvSpPr txBox="1"/>
          <p:nvPr/>
        </p:nvSpPr>
        <p:spPr>
          <a:xfrm>
            <a:off x="3512820" y="2417116"/>
            <a:ext cx="365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0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C2E8D-CACB-EB8E-0127-631AE03BE3DE}"/>
              </a:ext>
            </a:extLst>
          </p:cNvPr>
          <p:cNvSpPr txBox="1"/>
          <p:nvPr/>
        </p:nvSpPr>
        <p:spPr>
          <a:xfrm>
            <a:off x="3512820" y="3461957"/>
            <a:ext cx="365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000" dirty="0"/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D7EB2AE5-ECC4-78B6-EE91-F87952FE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348C0-DFDD-2094-C98F-1666533826E4}"/>
              </a:ext>
            </a:extLst>
          </p:cNvPr>
          <p:cNvSpPr txBox="1"/>
          <p:nvPr/>
        </p:nvSpPr>
        <p:spPr>
          <a:xfrm>
            <a:off x="132202" y="1575412"/>
            <a:ext cx="31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defRPr>
            </a:lvl1pPr>
          </a:lstStyle>
          <a:p>
            <a:r>
              <a:rPr lang="en-US" sz="3200" dirty="0" err="1">
                <a:solidFill>
                  <a:schemeClr val="bg1"/>
                </a:solidFill>
              </a:rPr>
              <a:t>kesimpulan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Graphic 5" descr="Arrow: Rotate left with solid fill">
            <a:extLst>
              <a:ext uri="{FF2B5EF4-FFF2-40B4-BE49-F238E27FC236}">
                <a16:creationId xmlns:a16="http://schemas.microsoft.com/office/drawing/2014/main" id="{6986C490-236C-FC48-FE55-726BB611F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553167">
            <a:off x="2091738" y="1738243"/>
            <a:ext cx="1028714" cy="1667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D63E7E-AF63-0F88-0A4D-4FD4926ADCC4}"/>
              </a:ext>
            </a:extLst>
          </p:cNvPr>
          <p:cNvSpPr txBox="1"/>
          <p:nvPr/>
        </p:nvSpPr>
        <p:spPr>
          <a:xfrm>
            <a:off x="3785507" y="1181340"/>
            <a:ext cx="53584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Pandemi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tidak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hanya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menghantam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industri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Film –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ia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membongkar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ilusi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aman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044EB-1B7E-76D4-C36D-50C7B8E239E5}"/>
              </a:ext>
            </a:extLst>
          </p:cNvPr>
          <p:cNvSpPr txBox="1"/>
          <p:nvPr/>
        </p:nvSpPr>
        <p:spPr>
          <a:xfrm>
            <a:off x="3970957" y="1402733"/>
            <a:ext cx="517304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Pandemi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anjlok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jumlah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film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menyusut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drastic. Genre-genre yang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dulu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jadi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andalan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kehilangan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daya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pikat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 Tapi di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balik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keruntuhan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itu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muncul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peluang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: ROI naik,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penonton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membuka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diri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pada genre yang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menantang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ruang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bagi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ide-ide segar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terbuka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lebar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  <a:p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Inilah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momen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emas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untuk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berhenti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bermain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aman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memeluk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risiko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dan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membangung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industri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yang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lebih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adaptif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berani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dan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tak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tergantikan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40554-3D36-4D7C-AA07-66EC726A1FA9}"/>
              </a:ext>
            </a:extLst>
          </p:cNvPr>
          <p:cNvSpPr txBox="1"/>
          <p:nvPr/>
        </p:nvSpPr>
        <p:spPr>
          <a:xfrm>
            <a:off x="3521101" y="1108243"/>
            <a:ext cx="365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0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553D0-D050-C9AE-4B33-513D69359D51}"/>
              </a:ext>
            </a:extLst>
          </p:cNvPr>
          <p:cNvSpPr txBox="1"/>
          <p:nvPr/>
        </p:nvSpPr>
        <p:spPr>
          <a:xfrm>
            <a:off x="3785507" y="2570538"/>
            <a:ext cx="5358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Industri film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dihadapkan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pada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pilihan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sederhana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tapi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menantang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: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berinvasi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atau</a:t>
            </a:r>
            <a:r>
              <a:rPr 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000" b="1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tertinggal</a:t>
            </a:r>
            <a:endParaRPr lang="en-US" sz="1000" b="1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6C1C5-6DDE-4762-BBAC-1A56138D56B2}"/>
              </a:ext>
            </a:extLst>
          </p:cNvPr>
          <p:cNvSpPr txBox="1"/>
          <p:nvPr/>
        </p:nvSpPr>
        <p:spPr>
          <a:xfrm>
            <a:off x="3970957" y="3043745"/>
            <a:ext cx="5173042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Angka-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angka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menampar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kita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fakta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penonton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bisa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lagi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dipikat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formula lama. Mereka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mencari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pengalaman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emosional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cerita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gelap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imajinatif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personal.</a:t>
            </a:r>
          </a:p>
          <a:p>
            <a:pPr algn="just"/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Yang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bertahan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bukan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yang punya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anggaran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terbesar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,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tapi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yang paling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peka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membaca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perubahan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dan paling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berani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menjawabnya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dengan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karya</a:t>
            </a:r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yang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relevan</a:t>
            </a:r>
            <a:endParaRPr lang="en-US" sz="7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5C2726-56B0-9F96-3347-D537B82A6EFF}"/>
              </a:ext>
            </a:extLst>
          </p:cNvPr>
          <p:cNvSpPr txBox="1"/>
          <p:nvPr/>
        </p:nvSpPr>
        <p:spPr>
          <a:xfrm>
            <a:off x="3521101" y="2497441"/>
            <a:ext cx="365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13214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6B81D4C-D5F1-3D5A-4E23-C1321DAA2281}"/>
              </a:ext>
            </a:extLst>
          </p:cNvPr>
          <p:cNvSpPr txBox="1"/>
          <p:nvPr/>
        </p:nvSpPr>
        <p:spPr>
          <a:xfrm>
            <a:off x="390524" y="2307104"/>
            <a:ext cx="85153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“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industri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film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pasca-pandemi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bukan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soal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kembali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ke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masa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lalu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,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tapi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soal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menciptakan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masa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depan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yang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lebih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tajam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,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berani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 dan </a:t>
            </a:r>
            <a:r>
              <a:rPr lang="en-US" sz="2000" i="1" dirty="0" err="1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relevan</a:t>
            </a:r>
            <a:r>
              <a:rPr lang="en-US" sz="2000" i="1" dirty="0">
                <a:solidFill>
                  <a:schemeClr val="bg1"/>
                </a:solidFill>
                <a:latin typeface="Bebas Neue" panose="020B0606020202050201" pitchFamily="34" charset="0"/>
                <a:cs typeface="Poppins" panose="00000500000000000000" pitchFamily="2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0396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205A2E3-9EFB-24D1-C09A-FF77DBB1C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34" y="734451"/>
            <a:ext cx="7976212" cy="399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83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472713-7CF5-FA7A-E019-1C2677AA3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439" y="571984"/>
            <a:ext cx="5655121" cy="399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39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E30A7-16B5-1574-C597-B8A5D433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176AE6-A5A1-F93D-58C1-9DB25DF69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00" y="571815"/>
            <a:ext cx="5655600" cy="399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27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9C071E-7EDE-DA3B-E24B-819248F80203}"/>
              </a:ext>
            </a:extLst>
          </p:cNvPr>
          <p:cNvSpPr txBox="1"/>
          <p:nvPr/>
        </p:nvSpPr>
        <p:spPr>
          <a:xfrm>
            <a:off x="161925" y="3118462"/>
            <a:ext cx="3049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>
                <a:solidFill>
                  <a:srgbClr val="1B5E20"/>
                </a:solidFill>
                <a:latin typeface="Showcard Gothic" panose="04020904020102020604" pitchFamily="82" charset="0"/>
                <a:cs typeface="Poppins SemiBold" panose="00000700000000000000" pitchFamily="2" charset="0"/>
              </a:defRPr>
            </a:lvl1pPr>
          </a:lstStyle>
          <a:p>
            <a:r>
              <a:rPr lang="en-US" sz="1100" dirty="0">
                <a:solidFill>
                  <a:schemeClr val="tx1"/>
                </a:solidFill>
                <a:latin typeface="Lucida Calligraphy" panose="03010101010101010101" pitchFamily="66" charset="0"/>
                <a:cs typeface="Segoe UI Semilight" panose="020B0402040204020203" pitchFamily="34" charset="0"/>
              </a:rPr>
              <a:t>Let’s make something great together</a:t>
            </a:r>
            <a:endParaRPr lang="en-US" sz="900" dirty="0">
              <a:solidFill>
                <a:schemeClr val="tx1"/>
              </a:solidFill>
              <a:latin typeface="Lucida Calligraphy" panose="03010101010101010101" pitchFamily="66" charset="0"/>
              <a:cs typeface="Segoe UI Semilight" panose="020B04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024BCA-9A4E-AF7D-0BED-DC133BF53A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38" t="17429" r="33761" b="61993"/>
          <a:stretch>
            <a:fillRect/>
          </a:stretch>
        </p:blipFill>
        <p:spPr>
          <a:xfrm>
            <a:off x="276226" y="3453139"/>
            <a:ext cx="881846" cy="906119"/>
          </a:xfrm>
          <a:prstGeom prst="ellipse">
            <a:avLst/>
          </a:prstGeom>
          <a:ln w="1905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363289-4877-6A61-528D-7331A5310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605" y="4226060"/>
            <a:ext cx="266395" cy="2663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1943A1-E454-3134-F33D-89C80EC0D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581" y="3775988"/>
            <a:ext cx="260419" cy="2604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6A8097-414D-9A52-4405-846F2E731CAF}"/>
              </a:ext>
            </a:extLst>
          </p:cNvPr>
          <p:cNvSpPr txBox="1"/>
          <p:nvPr/>
        </p:nvSpPr>
        <p:spPr>
          <a:xfrm>
            <a:off x="1158072" y="3415836"/>
            <a:ext cx="1013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ebas Neue" panose="020B0606020202050201" pitchFamily="34" charset="0"/>
              </a:rPr>
              <a:t>FARIZ AGYAN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9F778-B721-C4B0-3AE2-B507C7C99889}"/>
              </a:ext>
            </a:extLst>
          </p:cNvPr>
          <p:cNvSpPr txBox="1"/>
          <p:nvPr/>
        </p:nvSpPr>
        <p:spPr>
          <a:xfrm>
            <a:off x="1524000" y="3815628"/>
            <a:ext cx="16548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fariz.agyan4@gmail.com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7FAB0-6CA5-0A2F-001D-68CE4B153BF8}"/>
              </a:ext>
            </a:extLst>
          </p:cNvPr>
          <p:cNvSpPr txBox="1"/>
          <p:nvPr/>
        </p:nvSpPr>
        <p:spPr>
          <a:xfrm>
            <a:off x="1524000" y="4251535"/>
            <a:ext cx="3048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www.linkedin.com/in/fariz-agyan</a:t>
            </a:r>
            <a:endParaRPr lang="en-US" sz="400" u="sng" dirty="0">
              <a:solidFill>
                <a:schemeClr val="accent1">
                  <a:lumMod val="60000"/>
                  <a:lumOff val="4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1074</Words>
  <Application>Microsoft Office PowerPoint</Application>
  <PresentationFormat>On-screen Show (16:9)</PresentationFormat>
  <Paragraphs>101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Playbill</vt:lpstr>
      <vt:lpstr>Lucida Calligraphy</vt:lpstr>
      <vt:lpstr>Poppins SemiBold</vt:lpstr>
      <vt:lpstr>Poppins Medium</vt:lpstr>
      <vt:lpstr>Showcard Gothic</vt:lpstr>
      <vt:lpstr>Patrick Hand</vt:lpstr>
      <vt:lpstr>Poppins</vt:lpstr>
      <vt:lpstr>Bebas Neue</vt:lpstr>
      <vt:lpstr>Arial</vt:lpstr>
      <vt:lpstr>Cooper Black</vt:lpstr>
      <vt:lpstr>Poppins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Fariz Agyan</cp:lastModifiedBy>
  <cp:revision>18</cp:revision>
  <dcterms:modified xsi:type="dcterms:W3CDTF">2025-07-09T02:31:26Z</dcterms:modified>
</cp:coreProperties>
</file>